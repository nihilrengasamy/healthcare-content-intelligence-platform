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57f774c3104b45" /><Relationship Type="http://schemas.openxmlformats.org/officeDocument/2006/relationships/extended-properties" Target="/docProps/app.xml" Id="R9504112bbfad4e0f" /><Relationship Type="http://schemas.openxmlformats.org/officeDocument/2006/relationships/officeDocument" Target="/ppt/presentation.xml" Id="R4e36d533bf584b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9e68b87fc24718"/>
  </p:sldMasterIdLst>
  <p:notesMasterIdLst>
    <p:notesMasterId xmlns:r="http://schemas.openxmlformats.org/officeDocument/2006/relationships" r:id="Rb1bac0d814184728"/>
  </p:notesMasterIdLst>
  <p:sldIdLst>
    <p:sldId xmlns:r="http://schemas.openxmlformats.org/officeDocument/2006/relationships" id="256" r:id="R2407e3222a4d4483"/>
    <p:sldId xmlns:r="http://schemas.openxmlformats.org/officeDocument/2006/relationships" id="257" r:id="Rb7f3948a4b554db8"/>
    <p:sldId xmlns:r="http://schemas.openxmlformats.org/officeDocument/2006/relationships" id="258" r:id="R6a2c022d20c84030"/>
    <p:sldId xmlns:r="http://schemas.openxmlformats.org/officeDocument/2006/relationships" id="259" r:id="R21cfa2007f1c48ba"/>
    <p:sldId xmlns:r="http://schemas.openxmlformats.org/officeDocument/2006/relationships" id="260" r:id="R0e2cd061214a4e02"/>
    <p:sldId xmlns:r="http://schemas.openxmlformats.org/officeDocument/2006/relationships" id="261" r:id="Rca6526e496a2479f"/>
    <p:sldId xmlns:r="http://schemas.openxmlformats.org/officeDocument/2006/relationships" id="262" r:id="R90577b8cde144827"/>
    <p:sldId xmlns:r="http://schemas.openxmlformats.org/officeDocument/2006/relationships" id="263" r:id="R9fcfc64dabcd4278"/>
    <p:sldId xmlns:r="http://schemas.openxmlformats.org/officeDocument/2006/relationships" id="264" r:id="Rc3ac87a461134615"/>
    <p:sldId xmlns:r="http://schemas.openxmlformats.org/officeDocument/2006/relationships" id="265" r:id="Rc00df005b2df43d5"/>
    <p:sldId xmlns:r="http://schemas.openxmlformats.org/officeDocument/2006/relationships" id="266" r:id="R07083f2494f24e61"/>
    <p:sldId xmlns:r="http://schemas.openxmlformats.org/officeDocument/2006/relationships" id="267" r:id="Rdd4b439488364f21"/>
    <p:sldId xmlns:r="http://schemas.openxmlformats.org/officeDocument/2006/relationships" id="268" r:id="R31d6385a9ea241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0059fdfaac4642" /><Relationship Type="http://schemas.openxmlformats.org/officeDocument/2006/relationships/slideMaster" Target="/ppt/slideMasters/slideMaster1.xml" Id="R999e68b87fc24718" /><Relationship Type="http://schemas.openxmlformats.org/officeDocument/2006/relationships/notesMaster" Target="/ppt/notesMasters/notesMaster1.xml" Id="Rb1bac0d814184728" /><Relationship Type="http://schemas.openxmlformats.org/officeDocument/2006/relationships/presProps" Target="/ppt/presProps.xml" Id="Ra2af2ca010bb49cc" /><Relationship Type="http://schemas.openxmlformats.org/officeDocument/2006/relationships/tableStyles" Target="/ppt/tableStyles.xml" Id="R8de3c8d225f44b9d" /><Relationship Type="http://schemas.openxmlformats.org/officeDocument/2006/relationships/slide" Target="/ppt/slides/slide1.xml" Id="R2407e3222a4d4483" /><Relationship Type="http://schemas.openxmlformats.org/officeDocument/2006/relationships/slide" Target="/ppt/slides/slide2.xml" Id="Rb7f3948a4b554db8" /><Relationship Type="http://schemas.openxmlformats.org/officeDocument/2006/relationships/slide" Target="/ppt/slides/slide3.xml" Id="R6a2c022d20c84030" /><Relationship Type="http://schemas.openxmlformats.org/officeDocument/2006/relationships/slide" Target="/ppt/slides/slide4.xml" Id="R21cfa2007f1c48ba" /><Relationship Type="http://schemas.openxmlformats.org/officeDocument/2006/relationships/slide" Target="/ppt/slides/slide5.xml" Id="R0e2cd061214a4e02" /><Relationship Type="http://schemas.openxmlformats.org/officeDocument/2006/relationships/slide" Target="/ppt/slides/slide6.xml" Id="Rca6526e496a2479f" /><Relationship Type="http://schemas.openxmlformats.org/officeDocument/2006/relationships/slide" Target="/ppt/slides/slide7.xml" Id="R90577b8cde144827" /><Relationship Type="http://schemas.openxmlformats.org/officeDocument/2006/relationships/slide" Target="/ppt/slides/slide8.xml" Id="R9fcfc64dabcd4278" /><Relationship Type="http://schemas.openxmlformats.org/officeDocument/2006/relationships/slide" Target="/ppt/slides/slide9.xml" Id="Rc3ac87a461134615" /><Relationship Type="http://schemas.openxmlformats.org/officeDocument/2006/relationships/slide" Target="/ppt/slides/slide10.xml" Id="Rc00df005b2df43d5" /><Relationship Type="http://schemas.openxmlformats.org/officeDocument/2006/relationships/slide" Target="/ppt/slides/slide11.xml" Id="R07083f2494f24e61" /><Relationship Type="http://schemas.openxmlformats.org/officeDocument/2006/relationships/slide" Target="/ppt/slides/slide12.xml" Id="Rdd4b439488364f21" /><Relationship Type="http://schemas.openxmlformats.org/officeDocument/2006/relationships/slide" Target="/ppt/slides/slide13.xml" Id="R31d6385a9ea241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3a4acaa4fb4e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e1ba03df0e4de1" /><Relationship Type="http://schemas.openxmlformats.org/officeDocument/2006/relationships/notesMaster" Target="/ppt/notesMasters/notesMaster1.xml" Id="Rdb0e8c7105564c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5b05a0289640a8" /><Relationship Type="http://schemas.openxmlformats.org/officeDocument/2006/relationships/notesMaster" Target="/ppt/notesMasters/notesMaster1.xml" Id="Rd7ed2efb44044c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515ad406904986" /><Relationship Type="http://schemas.openxmlformats.org/officeDocument/2006/relationships/notesMaster" Target="/ppt/notesMasters/notesMaster1.xml" Id="Re3b5988b28cf4c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83d095f9e04326" /><Relationship Type="http://schemas.openxmlformats.org/officeDocument/2006/relationships/notesMaster" Target="/ppt/notesMasters/notesMaster1.xml" Id="Rfdcf7d049f1c49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925babfe7e464d" /><Relationship Type="http://schemas.openxmlformats.org/officeDocument/2006/relationships/notesMaster" Target="/ppt/notesMasters/notesMaster1.xml" Id="R9232d061a44540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45f50a5bcd45f0" /><Relationship Type="http://schemas.openxmlformats.org/officeDocument/2006/relationships/notesMaster" Target="/ppt/notesMasters/notesMaster1.xml" Id="R072b3d2f38ab45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e9b507eea9432b" /><Relationship Type="http://schemas.openxmlformats.org/officeDocument/2006/relationships/notesMaster" Target="/ppt/notesMasters/notesMaster1.xml" Id="Ra4f606a327944a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e5b612857b414b" /><Relationship Type="http://schemas.openxmlformats.org/officeDocument/2006/relationships/notesMaster" Target="/ppt/notesMasters/notesMaster1.xml" Id="R695401409cdd4f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27c9b4273a4599" /><Relationship Type="http://schemas.openxmlformats.org/officeDocument/2006/relationships/notesMaster" Target="/ppt/notesMasters/notesMaster1.xml" Id="Rae0341baa7e84f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48f1aab3a846b5" /><Relationship Type="http://schemas.openxmlformats.org/officeDocument/2006/relationships/notesMaster" Target="/ppt/notesMasters/notesMaster1.xml" Id="R461e5697feb949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b9501550e54805" /><Relationship Type="http://schemas.openxmlformats.org/officeDocument/2006/relationships/notesMaster" Target="/ppt/notesMasters/notesMaster1.xml" Id="R01c65a48303848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bc07c53c0b4f63" /><Relationship Type="http://schemas.openxmlformats.org/officeDocument/2006/relationships/notesMaster" Target="/ppt/notesMasters/notesMaster1.xml" Id="R276aa29071bc4c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58d2dd246e42d5" /><Relationship Type="http://schemas.openxmlformats.org/officeDocument/2006/relationships/notesMaster" Target="/ppt/notesMasters/notesMaster1.xml" Id="Rf697e418115c49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summarizes both my written report and my working proof of concept for Cotiviti.</a:t>
            </a:r>
          </a:p>
          <a:p xmlns:a="http://schemas.openxmlformats.org/drawingml/2006/main">
            <a:r>
              <a:t>The topic is AI-powered healthcare content intelligence, which focuses on turning policy-heavy healthcare documents into structured, explainable decision support.</a:t>
            </a:r>
          </a:p>
          <a:p xmlns:a="http://schemas.openxmlformats.org/drawingml/2006/main">
            <a:r>
              <a:t>I will start with the business problem, then show the proposed solution, the system architecture, the demonstration workflow, and the business value for Cotiviti.</a:t>
            </a:r>
          </a:p>
          <a:p xmlns:a="http://schemas.openxmlformats.org/drawingml/2006/main">
            <a:r>
              <a:t>The key message is that this is not just an AI demo. It is a practical, human-in-the-loop platform concept that fits payment integrity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starts with the nature of healthcare content itself. Policy documents are long, complex, and frequently updated.</a:t>
            </a:r>
          </a:p>
          <a:p xmlns:a="http://schemas.openxmlformats.org/drawingml/2006/main">
            <a:r>
              <a:t>Today, much of the interpretation work still depends on manual reading, tribal knowledge, and delayed translation into operational logic.</a:t>
            </a:r>
          </a:p>
          <a:p xmlns:a="http://schemas.openxmlformats.org/drawingml/2006/main">
            <a:r>
              <a:t>That creates risk in payment accuracy, workflow speed, and compliance. It also makes policy execution inconsistent across teams.</a:t>
            </a:r>
          </a:p>
          <a:p xmlns:a="http://schemas.openxmlformats.org/drawingml/2006/main">
            <a:r>
              <a:t>This sets up the need for a simple but credible AI proof of concept that shows how documents can be transformed into usable intelligence.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objective of this project is not to replace analysts. It is to improve how analysts work.</a:t>
            </a:r>
          </a:p>
          <a:p xmlns:a="http://schemas.openxmlformats.org/drawingml/2006/main">
            <a:r>
              <a:t>On the left is the current process, which is document-heavy and slow to scale. On the right is the target process, where AI accelerates ingestion, search, summarization, extraction, and decision support.</a:t>
            </a:r>
          </a:p>
          <a:p xmlns:a="http://schemas.openxmlformats.org/drawingml/2006/main">
            <a:r>
              <a:t>The real value comes from shifting effort away from basic reading and toward higher-value review and judgment.</a:t>
            </a:r>
          </a:p>
          <a:p xmlns:a="http://schemas.openxmlformats.org/drawingml/2006/main">
            <a:r>
              <a:t>That transition is what the proof of concept was designed to demonstrate end to 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matters for Cotiviti because the business problem is not abstract. It sits directly inside payment integrity and policy-driven operational work.</a:t>
            </a:r>
          </a:p>
          <a:p xmlns:a="http://schemas.openxmlformats.org/drawingml/2006/main">
            <a:r>
              <a:t>The platform can reduce manual effort, speed up policy interpretation, and improve consistency without removing the analyst from the loop.</a:t>
            </a:r>
          </a:p>
          <a:p xmlns:a="http://schemas.openxmlformats.org/drawingml/2006/main">
            <a:r>
              <a:t>It also creates explainability and reuse, which are important differentiators in regulated healthcare environments.</a:t>
            </a:r>
          </a:p>
          <a:p xmlns:a="http://schemas.openxmlformats.org/drawingml/2006/main">
            <a:r>
              <a:t>This slide connects the technical build to clear business outcomes before we go deeper into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full system architecture for the proof of concept.</a:t>
            </a:r>
          </a:p>
          <a:p xmlns:a="http://schemas.openxmlformats.org/drawingml/2006/main">
            <a:r>
              <a:t>The flow begins with multiple healthcare document types and then moves through ingestion, classification, summarization, comparison, embeddings, retrieval, extraction, decision support, and explainability.</a:t>
            </a:r>
          </a:p>
          <a:p xmlns:a="http://schemas.openxmlformats.org/drawingml/2006/main">
            <a:r>
              <a:t>The architecture is modular by design, which means each stage can be evaluated separately while still contributing to an end-to-end workflow.</a:t>
            </a:r>
          </a:p>
          <a:p xmlns:a="http://schemas.openxmlformats.org/drawingml/2006/main">
            <a:r>
              <a:t>That modularity is useful for Cotiviti because it supports phased adoption rather than requiring one large system rollout.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grouped the stack by purpose so the audience can see why each technology exists.</a:t>
            </a:r>
          </a:p>
          <a:p xmlns:a="http://schemas.openxmlformats.org/drawingml/2006/main">
            <a:r>
              <a:t>Python and Streamlit support rapid application development. LangChain, embeddings, and FAISS support retrieval and search. Scikit-learn supports lightweight predictive signals. PyMuPDF and structured JSON outputs support document parsing and downstream reuse.</a:t>
            </a:r>
          </a:p>
          <a:p xmlns:a="http://schemas.openxmlformats.org/drawingml/2006/main">
            <a:r>
              <a:t>The stack is intentionally practical for a hackathon-style proof of concept. It demonstrates capability without overcomplicating deployment.</a:t>
            </a:r>
          </a:p>
          <a:p xmlns:a="http://schemas.openxmlformats.org/drawingml/2006/main">
            <a:r>
              <a:t>Next, I move from technology choice into the live workflow of the POC.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live workflow that the proof of concept demonstrates.</a:t>
            </a:r>
          </a:p>
          <a:p xmlns:a="http://schemas.openxmlformats.org/drawingml/2006/main">
            <a:r>
              <a:t>The user journey starts with document upload and continues through classification, summarization, version comparison, policy chat, rule extraction, feature extraction, rule execution, ML support, claim decisioning, explainability, and evaluation.</a:t>
            </a:r>
          </a:p>
          <a:p xmlns:a="http://schemas.openxmlformats.org/drawingml/2006/main">
            <a:r>
              <a:t>The important point is that the POC proves the flow across modules, not just isolated technical features.</a:t>
            </a:r>
          </a:p>
          <a:p xmlns:a="http://schemas.openxmlformats.org/drawingml/2006/main">
            <a:r>
              <a:t>That makes it a strong hackathon submission because it shows hands-on engineering and general capability without overcomplicating the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the full module inventory across the project.</a:t>
            </a:r>
          </a:p>
          <a:p xmlns:a="http://schemas.openxmlformats.org/drawingml/2006/main">
            <a:r>
              <a:t>The left table covers ingestion, understanding, retrieval, and prompt governance. The right table covers extraction, decision logic, explainability, and evaluation.</a:t>
            </a:r>
          </a:p>
          <a:p xmlns:a="http://schemas.openxmlformats.org/drawingml/2006/main">
            <a:r>
              <a:t>I framed each module in terms of business purpose and benefit so the audience can see how technical components map to operational value.</a:t>
            </a:r>
          </a:p>
          <a:p xmlns:a="http://schemas.openxmlformats.org/drawingml/2006/main">
            <a:r>
              <a:t>This also reinforces that the platform is modular and extendable rather than being a one-off demo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designed to support the demo portion of the presentation.</a:t>
            </a:r>
          </a:p>
          <a:p xmlns:a="http://schemas.openxmlformats.org/drawingml/2006/main">
            <a:r>
              <a:t>Each placeholder can be replaced with a clean screenshot from the working Streamlit application. The most important screens are upload, classification, summarization, policy chat, rule extraction, claim decisioning, and analytics.</a:t>
            </a:r>
          </a:p>
          <a:p xmlns:a="http://schemas.openxmlformats.org/drawingml/2006/main">
            <a:r>
              <a:t>During the live presentation, I would walk through the workflow in the same order shown earlier so the story remains easy to follow.</a:t>
            </a:r>
          </a:p>
          <a:p xmlns:a="http://schemas.openxmlformats.org/drawingml/2006/main">
            <a:r>
              <a:t>This keeps the POC concrete and visually grounded for both technical and non-technical reviewers.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business value is centered on better payment integrity supported by faster and more consistent policy intelligence.</a:t>
            </a:r>
          </a:p>
          <a:p xmlns:a="http://schemas.openxmlformats.org/drawingml/2006/main">
            <a:r>
              <a:t>Instead of presenting aggressive ROI claims, this slide stays grounded in realistic value areas: reduced manual review, faster policy updates, better consistency, scalable platform design, and explainable human validation.</a:t>
            </a:r>
          </a:p>
          <a:p xmlns:a="http://schemas.openxmlformats.org/drawingml/2006/main">
            <a:r>
              <a:t>That framing is important because this is a hackathon proof of concept. The goal is to demonstrate believable capability and strategic relevance, not to overclaim production results.</a:t>
            </a:r>
          </a:p>
          <a:p xmlns:a="http://schemas.openxmlformats.org/drawingml/2006/main">
            <a:r>
              <a:t>Next, I address how the platform handles responsible AI concerns.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Responsible AI is essential for this use case because healthcare content directly influences high-stakes operational decisions.</a:t>
            </a:r>
          </a:p>
          <a:p xmlns:a="http://schemas.openxmlformats.org/drawingml/2006/main">
            <a:r>
              <a:t>The main risks are hallucination, ambiguity, low confidence, lack of transparency, and compliance exposure.</a:t>
            </a:r>
          </a:p>
          <a:p xmlns:a="http://schemas.openxmlformats.org/drawingml/2006/main">
            <a:r>
              <a:t>The platform addresses those risks through grounded retrieval, confidence signals, structured outputs, explainability, evaluation, and human-in-the-loop review.</a:t>
            </a:r>
          </a:p>
          <a:p xmlns:a="http://schemas.openxmlformats.org/drawingml/2006/main">
            <a:r>
              <a:t>This is also why the recommendation is to position the system as decision support rather than as a fully autonomous adjudication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roadmap reflects the recommendation from the written report: start narrow, prove value, and then expand.</a:t>
            </a:r>
          </a:p>
          <a:p xmlns:a="http://schemas.openxmlformats.org/drawingml/2006/main">
            <a:r>
              <a:t>The first phase focuses on use cases where policy interpretation matters immediately and where human review can stay closely involved.</a:t>
            </a:r>
          </a:p>
          <a:p xmlns:a="http://schemas.openxmlformats.org/drawingml/2006/main">
            <a:r>
              <a:t>The next and later phases show how the platform could grow into richer interoperability, knowledge graph, and monitoring capabilities without changing the core business logic.</a:t>
            </a:r>
          </a:p>
          <a:p xmlns:a="http://schemas.openxmlformats.org/drawingml/2006/main">
            <a:r>
              <a:t>That approach balances ambition with realism, which is important for both Cotiviti and the hackathon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conclude, the core problem is real, the proposed solution is aligned to Cotiviti’s domain, and the proof of concept demonstrates the concept in a practical way.</a:t>
            </a:r>
          </a:p>
          <a:p xmlns:a="http://schemas.openxmlformats.org/drawingml/2006/main">
            <a:r>
              <a:t>The platform is intentionally modular, explainable, and human-in-the-loop. That is what makes it more believable as a strategic direction than a generic AI demo.</a:t>
            </a:r>
          </a:p>
          <a:p xmlns:a="http://schemas.openxmlformats.org/drawingml/2006/main">
            <a:r>
              <a:t>If Cotiviti wants to explore this area further, the best next step is a focused pilot around high-value policy use cases with clear evaluation criteria.</a:t>
            </a:r>
          </a:p>
          <a:p xmlns:a="http://schemas.openxmlformats.org/drawingml/2006/main">
            <a:r>
              <a:t>The final takeaway is simple: AI plus human expertise can create better healthcare payment integrity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e7d4c859b48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da36d70b534ebf" /><Relationship Type="http://schemas.openxmlformats.org/officeDocument/2006/relationships/slideLayout" Target="/ppt/slideLayouts/slideLayout1.xml" Id="Re8e58691bbac40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e58691bbac40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f4587c9b545a4" /><Relationship Type="http://schemas.openxmlformats.org/officeDocument/2006/relationships/notesSlide" Target="/ppt/notesSlides/notesSlide1.xml" Id="R1524d492b3a14e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8f362eb0b4210" /><Relationship Type="http://schemas.openxmlformats.org/officeDocument/2006/relationships/notesSlide" Target="/ppt/notesSlides/notesSlide2.xml" Id="R7f5940bcda2740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b047bd31944af" /><Relationship Type="http://schemas.openxmlformats.org/officeDocument/2006/relationships/notesSlide" Target="/ppt/notesSlides/notesSlide3.xml" Id="Rd108eec7627644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1af4a26b443fc" /><Relationship Type="http://schemas.openxmlformats.org/officeDocument/2006/relationships/notesSlide" Target="/ppt/notesSlides/notesSlide4.xml" Id="R404915cd6fab4d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3786b4e3540f7" /><Relationship Type="http://schemas.openxmlformats.org/officeDocument/2006/relationships/notesSlide" Target="/ppt/notesSlides/notesSlide5.xml" Id="Rd933bdaf92cd49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de05563914433" /><Relationship Type="http://schemas.openxmlformats.org/officeDocument/2006/relationships/notesSlide" Target="/ppt/notesSlides/notesSlide6.xml" Id="R9bdcf799be784a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00990f7014eb2" /><Relationship Type="http://schemas.openxmlformats.org/officeDocument/2006/relationships/notesSlide" Target="/ppt/notesSlides/notesSlide7.xml" Id="R4c38dc19e7fc4e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421b1cf6c47ec" /><Relationship Type="http://schemas.openxmlformats.org/officeDocument/2006/relationships/notesSlide" Target="/ppt/notesSlides/notesSlide8.xml" Id="R46285c5ce61a49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4a1bdb75c4c0c" /><Relationship Type="http://schemas.openxmlformats.org/officeDocument/2006/relationships/notesSlide" Target="/ppt/notesSlides/notesSlide9.xml" Id="R7cfa722993b54c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ebfd8a9dc4680" /><Relationship Type="http://schemas.openxmlformats.org/officeDocument/2006/relationships/notesSlide" Target="/ppt/notesSlides/notesSlide10.xml" Id="R1690da47fd3845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99c23bbb54fbf" /><Relationship Type="http://schemas.openxmlformats.org/officeDocument/2006/relationships/notesSlide" Target="/ppt/notesSlides/notesSlide11.xml" Id="R519483c418fc4f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607139adf4319" /><Relationship Type="http://schemas.openxmlformats.org/officeDocument/2006/relationships/notesSlide" Target="/ppt/notesSlides/notesSlide12.xml" Id="R5098591af5be42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5da16aeb248e5" /><Relationship Type="http://schemas.openxmlformats.org/officeDocument/2006/relationships/notesSlide" Target="/ppt/notesSlides/notesSlide13.xml" Id="R99c7df63cdd240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50983-3C24-4DE3-9E6D-0B1453BE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6"/>
          </a:solidFill>
          <a:ln xmlns:a="http://schemas.openxmlformats.org/drawingml/2006/main" w="0">
            <a:solidFill>
              <a:srgbClr val="123B6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2DF07-1642-465B-A9CD-A858411D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solidFill>
              <a:srgbClr val="EAF2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4EA6"/>
                </a:solidFill>
              </a:defRPr>
            </a:pPr>
            <a:r>
              <a:rPr sz="1050" b="1" i="0">
                <a:solidFill>
                  <a:srgbClr val="174EA6"/>
                </a:solidFill>
              </a:rPr>
              <a:t>Cotiviti Hackathon | Report +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8AFBD-F14F-4CD7-9EC5-AA67A801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23B66"/>
                </a:solidFill>
              </a:defRPr>
            </a:pPr>
            <a:r>
              <a:rPr sz="3450" b="1" i="0">
                <a:solidFill>
                  <a:srgbClr val="123B66"/>
                </a:solidFill>
              </a:rPr>
              <a:t>AI-Powered Healthcare Content Intelligence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AC765-AB4A-4C7F-8B7D-8AC90B0C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472"/>
                </a:solidFill>
              </a:defRPr>
            </a:pPr>
            <a:r>
              <a:rPr sz="1650" b="0" i="0">
                <a:solidFill>
                  <a:srgbClr val="5B6472"/>
                </a:solidFill>
              </a:rPr>
              <a:t>Transforming Healthcare Policies into Intelligent Decision Support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76E7D-6E71-4B99-AF89-00092B18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7"/>
                </a:solidFill>
              </a:defRPr>
            </a:pPr>
            <a:r>
              <a:rPr sz="1500" b="0" i="0">
                <a:solidFill>
                  <a:srgbClr val="1F2937"/>
                </a:solidFill>
              </a:rPr>
              <a:t>Nihil Rengasamy</a:t>
            </a:r>
          </a:p>
          <a:p xmlns:a="http://schemas.openxmlformats.org/drawingml/2006/main">
            <a:pPr algn="l">
              <a:defRPr sz="1500" b="0" i="0">
                <a:solidFill>
                  <a:srgbClr val="1F2937"/>
                </a:solidFill>
              </a:defRPr>
            </a:pPr>
            <a:r>
              <a:rPr sz="1500" b="0" i="0">
                <a:solidFill>
                  <a:srgbClr val="1F2937"/>
                </a:solidFill>
              </a:rPr>
              <a:t>University at Albany</a:t>
            </a:r>
          </a:p>
          <a:p xmlns:a="http://schemas.openxmlformats.org/drawingml/2006/main">
            <a:pPr algn="l">
              <a:defRPr sz="1500" b="0" i="0">
                <a:solidFill>
                  <a:srgbClr val="1F2937"/>
                </a:solidFill>
              </a:defRPr>
            </a:pPr>
            <a:r>
              <a:rPr sz="1500" b="0" i="0">
                <a:solidFill>
                  <a:srgbClr val="1F2937"/>
                </a:solidFill>
              </a:rPr>
              <a:t>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6DA8A-C421-4124-BB87-C649444A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33450"/>
            <a:ext cx="40005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06496-1539-4317-9ECD-F0B7F0FA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Policy PDFs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42195-B08F-4F4D-A2CF-529972CF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71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89470-2B5E-41F0-83E2-9FD7A976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AI Intelligence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4C857-5297-4B92-92F9-FC15977F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95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53661-7FAA-4CCA-AB56-299EEE90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7316"/>
                </a:solidFill>
              </a:defRPr>
            </a:pPr>
            <a:r>
              <a:rPr sz="1350" b="1" i="0">
                <a:solidFill>
                  <a:srgbClr val="F97316"/>
                </a:solidFill>
              </a:rPr>
              <a:t>Decision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83EBF-D6E3-4758-B29D-66FADC31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Working POC covers classification, summarization, RAG, rule extraction, feature extraction, claim decision, explainability, and evaluation.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6E721-C520-4E64-802C-34DAF8A0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</a:t>
            </a:r>
          </a:p>
        </p:txBody>
      </p:sp>
    </p:spTree>
    <p:extLst>
      <p:ext uri="{BB962C8B-B14F-4D97-AF65-F5344CB8AC3E}">
        <p14:creationId xmlns:p14="http://schemas.microsoft.com/office/powerpoint/2010/main" val="1769379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2C3278-DF58-462D-80FB-E5205273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E8B13-648B-4CE5-8B03-56C87D6B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Healthcare policy review is manual, fragmented, and difficult to operationalize at scale.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83E4A-09EE-48A8-8DE6-B8856EF3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BD895-A487-4527-AFC4-28CFC933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49085-5F57-4487-ACA0-20B1523C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CFE53-34BF-4C87-8D0C-DF122127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4095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7F33D-0870-4F8B-B6DC-B4120181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Manual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19768-73E5-487C-B05F-30A87EC3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937"/>
                </a:solidFill>
              </a:defRPr>
            </a:pPr>
            <a:r>
              <a:rPr sz="1125" b="0" i="0">
                <a:solidFill>
                  <a:srgbClr val="1F2937"/>
                </a:solidFill>
              </a:rPr>
              <a:t>Analysts read long PDFs and translate policy language into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A9E1E-0ECE-4E8B-8EA4-C6DD6348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4095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19721-7A10-458F-9B6A-2C3A8131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Frequent changes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77C99-67AF-4AAD-989E-E81A606D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937"/>
                </a:solidFill>
              </a:defRPr>
            </a:pPr>
            <a:r>
              <a:rPr sz="1125" b="0" i="0">
                <a:solidFill>
                  <a:srgbClr val="1F2937"/>
                </a:solidFill>
              </a:rPr>
              <a:t>Coverage criteria and coding rules change faster than teams can operationalize.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75964-358F-4767-A041-02BD9680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4095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9F1E9-2514-4C7A-BDE2-919D5DBE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Slow 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1B9DA-4BA1-4BBE-BB05-970E24CF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937"/>
                </a:solidFill>
              </a:defRPr>
            </a:pPr>
            <a:r>
              <a:rPr sz="1125" b="0" i="0">
                <a:solidFill>
                  <a:srgbClr val="1F2937"/>
                </a:solidFill>
              </a:rPr>
              <a:t>Policy updates take time to become usable rules and reference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31409-3DB0-4268-BD4F-FA8933EF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095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C9B1E-8625-4032-A25C-66DFC116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Payment leakage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75587-25CC-4333-8DB2-6130898F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937"/>
                </a:solidFill>
              </a:defRPr>
            </a:pPr>
            <a:r>
              <a:rPr sz="1125" b="0" i="0">
                <a:solidFill>
                  <a:srgbClr val="1F2937"/>
                </a:solidFill>
              </a:rPr>
              <a:t>Misread or delayed policy interpretation can affect payment integrity.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00DA5-6A50-4BD2-A188-10D9BC81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09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B66"/>
                </a:solidFill>
              </a:defRPr>
            </a:pPr>
            <a:r>
              <a:rPr sz="1650" b="1" i="0">
                <a:solidFill>
                  <a:srgbClr val="123B66"/>
                </a:solidFill>
              </a:rPr>
              <a:t>Current challenge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A178C-8128-4B23-A71F-F13B54DA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Policy PDF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1F78D-69D0-4DDF-BA7E-AB5F45B7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1B358-BA27-4C9D-A7AD-F0DA6954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000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Manual analyst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B8E1D-B758-4CDF-BB34-42B6E345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81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7127A-CF06-4577-BC2D-B7320338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2000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6F5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Interpretation lag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601DD-9EE7-4B87-BF8C-753E257E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B26D1D-BD7D-4A68-A46A-7E559F87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6F5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Delayed rule usage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C3A8F-B675-40AF-96CE-37BF834B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29125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CFE0F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955906-DEB8-442B-9968-58211132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562475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Core implication for Cotiviti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28A43E-173B-42BD-918E-5AC64A07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867275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• Policy understanding stays person-dependent</a:t>
            </a:r>
          </a:p>
          <a:p xmlns:a="http://schemas.openxmlformats.org/drawingml/2006/main"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• Scaling quality requires more effort, not more intelligence</a:t>
            </a:r>
          </a:p>
          <a:p xmlns:a="http://schemas.openxmlformats.org/drawingml/2006/main"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• Decision support arrives too late in the workflow</a:t>
            </a:r>
          </a:p>
        </p:txBody>
      </p:sp>
    </p:spTree>
    <p:extLst>
      <p:ext uri="{BB962C8B-B14F-4D97-AF65-F5344CB8AC3E}">
        <p14:creationId xmlns:p14="http://schemas.microsoft.com/office/powerpoint/2010/main" val="20104216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9E3F89-35A6-4ACB-8AC8-CAC7C7AF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Project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50FC6-7453-48AC-96CA-08E4D56E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Move from document-heavy manual review to an AI-assisted, human-validated operating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FB4A4-61AF-4DCA-B0B9-628B8A42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73CA2-BE64-437A-8585-C3D1BB89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5AA8A-6234-4152-AC6A-1B9A4B4B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E1685-9231-49D0-A495-40A063EF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90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D92D20"/>
                </a:solidFill>
              </a:defRPr>
            </a:pPr>
            <a:r>
              <a:rPr sz="1800" b="1" i="0">
                <a:solidFill>
                  <a:srgbClr val="D92D20"/>
                </a:solidFill>
              </a:rPr>
              <a:t>Current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EF645-4829-4547-80CF-1541EAB9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6F5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Read 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BCB62-8A3D-4A73-A33B-1404E736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8F182-1FA2-4E17-8E7C-0BD9120B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9875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6F5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Interpret 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55863-E6E4-429D-92CA-623B15B0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81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9F73B-DC5C-4275-ADFA-470DAABB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6F5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Translate to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F6CF8-0BE9-441F-A735-D8326088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86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F3827-74A0-485C-8CA6-8DB1F94A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9625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6F5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Review exceptions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E08A9-A5EC-4645-9030-C1AB7462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90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9D74"/>
                </a:solidFill>
              </a:defRPr>
            </a:pPr>
            <a:r>
              <a:rPr sz="1800" b="1" i="0">
                <a:solidFill>
                  <a:srgbClr val="1F9D74"/>
                </a:solidFill>
              </a:rPr>
              <a:t>AI-powered 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AC775-F5DA-4165-9466-CC900C23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B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Upload &amp; classify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8DE24-C5A5-4897-A35F-9819D19F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09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6B756-943C-452D-8B07-1917F3A8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B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Summarize &amp; 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C8EA1-F326-496C-A7D2-96F0EB37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241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A501A-9AE8-4715-9BFC-7F3FD170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B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Ask grounded questions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F1FFF-42DF-410A-90AD-9F71B0CC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38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B68AA-C24B-468A-A636-5A469A0A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57625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B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Extract rules &amp;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50794-B5E4-449F-A669-629DF862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529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3BEB16-4C13-48F8-80B4-116A32B6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0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B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Support decisions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8532B6-35B2-4EE2-BA18-A90E9683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7E1177-C599-4240-B53F-84FE9FA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2952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CFE0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07E9E-18FF-4B56-B516-A347D2C8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670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Automation opportunities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EEDD9C-99DA-42A6-836F-AF401D7E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71800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• Reduce repetitive document reading</a:t>
            </a:r>
          </a:p>
          <a:p xmlns:a="http://schemas.openxmlformats.org/drawingml/2006/main"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• Standardize interpretation</a:t>
            </a:r>
          </a:p>
          <a:p xmlns:a="http://schemas.openxmlformats.org/drawingml/2006/main"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• Surface explainable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6332012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9133A9-8173-43A7-A669-419CF5F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Why This Matters for Cotiviti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ADE20-FECE-4927-9A37-14157029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The use case aligns directly with payment integrity, policy interpretation, and explainable operational decision support.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AA1F3-1A24-41F6-AD43-C653A5CC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B36B0-FD3B-4A5A-87A8-98D632A6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19034-160F-4B7E-B60A-8E294302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81369-0A25-49AA-B2C5-D6117D08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3276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4D993-6CCC-4672-8330-6F28D694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Reduced manual effort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8E73F-2A17-475F-A10F-D91438C9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2933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Less time spent reading and re-reading long policy PDFs.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875D4-548B-466C-9684-3432A1F3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276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B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AF1F9-00DC-45CA-887D-17C303FD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Faster policy updates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CB6A3-55D9-4280-820C-CF098BE2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62150"/>
            <a:ext cx="2933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Shorter path from policy revision to usable decision support.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A83A9-C72D-4919-AD10-21528AA9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24000"/>
            <a:ext cx="3276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E42B0-3F60-4786-9BF3-D69B24FE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97316"/>
                </a:solidFill>
              </a:defRPr>
            </a:pPr>
            <a:r>
              <a:rPr sz="1350" b="1" i="0">
                <a:solidFill>
                  <a:srgbClr val="F97316"/>
                </a:solidFill>
              </a:rPr>
              <a:t>Improved payment integrity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02008-AC08-45A7-8880-F771B2F7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2933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More consistent interpretation of coverage and coding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144A0-91DD-469E-B09E-A8891BF5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3276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4B0FD-F56F-470E-927E-671CDA36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Lower operating 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8D13E-1A1A-43DA-BDCC-E105BB9A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2933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Better analyst leverage without adding workflow complexity.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0FE1F-490E-4619-97D8-5E2751E1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3276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8CD3B-FE34-442E-8701-E97D31E7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Explainable recommendations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62751-7CED-41D7-94E8-126B43F5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81400"/>
            <a:ext cx="2933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Human reviewers can see why a recommendation was made.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56ECE-9EC2-48C4-8BC4-84985E1E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276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784A6-02C0-432C-A173-F791DED3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Reusable intelligence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DB4D64-8726-483F-AE02-994C6AB7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2933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Policies become a searchable, structured knowledge asset.</a:t>
            </a:r>
          </a:p>
        </p:txBody>
      </p:sp>
    </p:spTree>
    <p:extLst>
      <p:ext uri="{BB962C8B-B14F-4D97-AF65-F5344CB8AC3E}">
        <p14:creationId xmlns:p14="http://schemas.microsoft.com/office/powerpoint/2010/main" val="1208149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5346A4-3FC0-4F1D-A1E9-2E2FFDF2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Overall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02F35-0B45-4039-94B0-7D65468D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End-to-end flow from healthcare documents to explainable decision support.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61A4F-48F6-4286-A1C6-129D64AD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F10F3-533E-4C1C-A804-D005A0DB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40B9B-D573-4BDF-BF79-A34E2CB4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A1A5C-3E54-40EA-9B1E-1A5D5101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solidFill>
              <a:srgbClr val="EAF2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4EA6"/>
                </a:solidFill>
              </a:defRPr>
            </a:pPr>
            <a:r>
              <a:rPr sz="1050" b="1" i="0">
                <a:solidFill>
                  <a:srgbClr val="174EA6"/>
                </a:solidFill>
              </a:rPr>
              <a:t>Input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95A69-F6CF-43EC-892B-3F769DF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9065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8F6"/>
          </a:solidFill>
          <a:ln xmlns:a="http://schemas.openxmlformats.org/drawingml/2006/main" w="0">
            <a:solidFill>
              <a:srgbClr val="EEF8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9D74"/>
                </a:solidFill>
              </a:defRPr>
            </a:pPr>
            <a:r>
              <a:rPr sz="1050" b="1" i="0">
                <a:solidFill>
                  <a:srgbClr val="1F9D74"/>
                </a:solidFill>
              </a:rPr>
              <a:t>Ingestion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F6770-6FC9-4CF1-ACB5-80322D6F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39065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0">
            <a:solidFill>
              <a:srgbClr val="FFF5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97316"/>
                </a:solidFill>
              </a:defRPr>
            </a:pPr>
            <a:r>
              <a:rPr sz="1050" b="1" i="0">
                <a:solidFill>
                  <a:srgbClr val="F97316"/>
                </a:solidFill>
              </a:rPr>
              <a:t>Knowledge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A2955-7ED2-45FD-A59E-117AA4C1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9065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0">
            <a:solidFill>
              <a:srgbClr val="F4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C3AED"/>
                </a:solidFill>
              </a:defRPr>
            </a:pPr>
            <a:r>
              <a:rPr sz="1050" b="1" i="0">
                <a:solidFill>
                  <a:srgbClr val="7C3AED"/>
                </a:solidFill>
              </a:rPr>
              <a:t>Decision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73594-40B7-4593-B7D0-11855C5D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906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F5"/>
          </a:solidFill>
          <a:ln xmlns:a="http://schemas.openxmlformats.org/drawingml/2006/main" w="0">
            <a:solidFill>
              <a:srgbClr val="FFF6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92D20"/>
                </a:solidFill>
              </a:defRPr>
            </a:pPr>
            <a:r>
              <a:rPr sz="1050" b="1" i="0">
                <a:solidFill>
                  <a:srgbClr val="D92D20"/>
                </a:solidFill>
              </a:rPr>
              <a:t>Trust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87DE7-8A50-4C01-8E19-CAFD3B2B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33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Healthcare Documents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AD6D4-22AD-4D7A-9CB8-FD159865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2479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A3E27-DF38-4977-9EC2-93C61E72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95500"/>
            <a:ext cx="133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PDF Loader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45A96-ED8B-4562-B23E-AE72412A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2BAAE-48B3-4B2D-8ADB-2BD06A35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95500"/>
            <a:ext cx="133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Document Classifier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A923C-5DB7-4647-A583-9A2E221F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479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406F4-D006-46B2-847B-3A953130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95500"/>
            <a:ext cx="133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Summarizer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E1CAC-4E33-4723-8813-8A9E002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592B97-D99C-4FDD-B520-8CE81654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133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Version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2B594-81AD-4235-8757-953D989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479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31A04-C4DB-4D64-9481-91D14E64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95500"/>
            <a:ext cx="133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Embeddings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7A060-2382-47BC-A2B0-69B4F7D8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479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2063A-170D-4142-A1A4-4F98FFD5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95500"/>
            <a:ext cx="133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FAISS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6DA7A-9E7F-457A-9D0B-549F9098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RAG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E627E1-F5A4-4E46-9A06-A12A4B9A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33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78519D-D704-4A8E-8955-150267B1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814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Rule Extraction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239BA-48CA-4B1F-BFD5-1F00D900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9D0B70-3B07-4A0A-B657-BA9932F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Feature Extraction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7AB7DB-45A7-40BE-AF2E-7792FC8B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33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A5E178-564C-411C-8797-A42A8BCC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814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Rule Engine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35D6B9-D92E-444C-ABD5-7E20DCC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ABCCC1-A27E-4670-AF7C-C5C4E6B8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ML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2F8083-E999-428E-93E9-86D1DF68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0570DA-B8A3-47FB-855C-A474C282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814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Claim Decision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E7EE90-175D-4B81-9AE6-F88DB367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33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D501C5-01A6-4B9A-A47F-7F11E6AB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814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Explainability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B5C560-C243-4DDD-B9F1-CC760BDB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33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DB86A8-6CFF-493D-A214-0F98994F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814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Evaluation Dashboard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9BC6E1-225B-47A4-892B-33A50711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64A4C3-77DC-4AB6-BDC5-1D2D5280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648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18AC0A-EC77-455B-B4D3-BE4ECE80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030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Architecture principle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564EDA-29DA-4188-9AE8-F4F59F2C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7"/>
                </a:solidFill>
              </a:defRPr>
            </a:pPr>
            <a:r>
              <a:rPr sz="1275" b="0" i="0">
                <a:solidFill>
                  <a:srgbClr val="1F2937"/>
                </a:solidFill>
              </a:rPr>
              <a:t>The platform converts unstructured healthcare documents into grounded answers, reusable rules, structured features, and explainable recommendations. The design intentionally keeps humans in the loop for high-stakes interpretation and decision review.</a:t>
            </a:r>
          </a:p>
        </p:txBody>
      </p:sp>
    </p:spTree>
    <p:extLst>
      <p:ext uri="{BB962C8B-B14F-4D97-AF65-F5344CB8AC3E}">
        <p14:creationId xmlns:p14="http://schemas.microsoft.com/office/powerpoint/2010/main" val="1068341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0BFA5-59A2-478D-9575-334C9236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B4F8D-D57B-475D-91C1-A7A5CD95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Grouped by business purpose rather than listed as a flat tool inventory.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7FF4F-5D6E-4C9E-AF45-321E3BE2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B5793-1E48-48D7-A09D-2BBFAD84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C8F86-CD63-407C-8190-E3B8C886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40070-2DF0-48AE-82D5-FA58E64D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2194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3AB74-DF01-4178-BC0D-CC07123C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Programming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30287-3140-4DC0-B16B-5350F52E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876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Python 3.11+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Modular OOP structure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Typed production-style modules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CACA2-4CE2-41B8-849C-FFE3FD7D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2194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8F6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A6A18-71F4-4ED0-B810-EB1046B6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573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AI &amp;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A12B2-CB87-494A-9BB2-E7BA6536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2876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Groq / GPT-compatible summarization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Prompt-managed extraction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Policy Q&amp;A patterns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88D92-CCD8-459D-9FB0-7B8E42F4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32194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3F2B9-0436-4E00-B35F-57D35DAA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97316"/>
                </a:solidFill>
              </a:defRPr>
            </a:pPr>
            <a:r>
              <a:rPr sz="1350" b="1" i="0">
                <a:solidFill>
                  <a:srgbClr val="F97316"/>
                </a:solidFill>
              </a:rPr>
              <a:t>Retrieval &amp; NLP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0E7F2-1C59-4210-9FFC-E7FB2EE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62150"/>
            <a:ext cx="2876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LangChain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sentence-transformers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RAG orchestration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B2387-BE0C-4DE8-B029-877C8EBB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2194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5D486-2DE3-42FE-B1CA-83ECEDAC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ML &amp; 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931C7-55CC-42AD-ADEA-540F17A7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876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Scikit-learn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Pandas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NumPy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F8109-D0C4-4D62-8312-4BB7F97B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32194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DA602-D5E2-414D-B68E-6C36A2C2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Application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43111-F851-4C72-BAA0-FD032F5C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24300"/>
            <a:ext cx="2876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Streamlit multipage UI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Session state workflow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Downloadable outputs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DBBFC-9265-469B-8EAA-FB87494A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2194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28C44-9B1C-417E-8C6B-2C5FC0BB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Storage &amp; Parsing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84C1E-5EC9-4317-9F2C-3A9EC0F2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2876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PyMuPDF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FAISS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JSON / local artifacts</a:t>
            </a:r>
          </a:p>
        </p:txBody>
      </p:sp>
    </p:spTree>
    <p:extLst>
      <p:ext uri="{BB962C8B-B14F-4D97-AF65-F5344CB8AC3E}">
        <p14:creationId xmlns:p14="http://schemas.microsoft.com/office/powerpoint/2010/main" val="7908791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AF5E9B-B240-40D1-BD39-EC54CFBB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Proof of Concept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10929-4639-4759-89B7-7E5559F4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Simple end-to-end demonstrator showing the main functions of the platform.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1107F-34C5-40A3-8216-DDC40838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E7136-4673-4C69-BE8E-01892BEE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DC16A-C97C-4ABF-A725-21637B6E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35F2C-A73C-48C2-A9C2-66C4BD7B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582C4-7A30-4CB5-A9BB-D2A43C86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AD2D2-C43A-41F1-A30C-3468F95F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03835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Classify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1515B-A5F8-45F5-8453-CCE51F4C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09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DCBAF-1EE0-43CF-9581-7C256D5A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Summarize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3062D-9524-45BC-84A6-B06ADF9A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4ED90-B83D-4196-BFFB-A49B2695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03835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35860-DCB7-4C95-BACD-3F891C88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09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9A085-C23B-4280-921D-677FB04C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3835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Chat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8CC92-C48A-4555-86EB-BA8BF67A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314F2-2789-4A30-8C9C-D2DEE942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03835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Extract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086A8-24F8-4E81-8729-DB06BB98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Extract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EF037-D262-4EF5-97CB-B83370F4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57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F6170-C8A0-44AF-9227-42313B90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862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Rule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720FA-B5CC-40A0-9DA0-088C8C82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57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7652BE-E523-4B68-922F-74895941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A25E1-2391-49D3-A520-52ACC35A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57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B0A4D-2F78-41FB-958C-FC6EFE8A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8862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4E9EC9-4E57-42CE-A53B-91F924AE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57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0762B-59C9-428A-9702-C8ADB2D5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862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Explanation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8AF1BF-892E-41E9-9164-BE24822A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57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627EE-9750-4F56-8864-2BE72568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8862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Evaluation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E368C6-0A8E-4D46-A04A-5D1DC0F4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76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F61307-1C3A-4F1F-AE51-50C80722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D2C8A-D49C-4D8D-95CA-24B9C4AE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0629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3B3422-F292-425C-B0DB-7975B055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7"/>
                </a:solidFill>
              </a:defRPr>
            </a:pPr>
            <a:r>
              <a:rPr sz="1275" b="0" i="0">
                <a:solidFill>
                  <a:srgbClr val="1F2937"/>
                </a:solidFill>
              </a:rPr>
              <a:t>Hackathon design principle: keep the workflow simple, visible, and demonstrable rather than over-optimizing for full production complexity.</a:t>
            </a:r>
          </a:p>
        </p:txBody>
      </p:sp>
    </p:spTree>
    <p:extLst>
      <p:ext uri="{BB962C8B-B14F-4D97-AF65-F5344CB8AC3E}">
        <p14:creationId xmlns:p14="http://schemas.microsoft.com/office/powerpoint/2010/main" val="1412059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CC0E06-928A-4811-9E79-90B8CF05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Core AI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9E3C7-9A1D-4E6B-A00F-C4793675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All fifteen modules are grouped into business-facing capabilities for the platform.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276E3-0B89-4641-83AA-96F6E84B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54F58-8E02-4A15-9461-974974AB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247CE-9CC6-4A17-A343-9802839F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1EE29-B2C2-4398-9851-63BCF785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B66"/>
                </a:solidFill>
              </a:defRPr>
            </a:pPr>
            <a:r>
              <a:rPr sz="1500" b="1" i="0">
                <a:solidFill>
                  <a:srgbClr val="123B66"/>
                </a:solidFill>
              </a:rPr>
              <a:t>Ingestion and intelligence modules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947D3-41E0-4E04-B57C-7F4C99FB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33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B66"/>
                </a:solidFill>
              </a:defRPr>
            </a:pPr>
            <a:r>
              <a:rPr sz="1500" b="1" i="0">
                <a:solidFill>
                  <a:srgbClr val="123B66"/>
                </a:solidFill>
              </a:rPr>
              <a:t>Decision, trust, and platform modules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61627-4EC3-4CF3-9BED-984F01E9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A47B8-A220-436A-AC84-D8B9794C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57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0AA62-BAD4-4069-9ED7-3AD5202E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0080E-4CA1-495B-A217-00129786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Business Benefit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B0BFF-C5BA-44EF-A309-48E034FA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PDF Loader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45EE7-EC2E-4F9B-B41C-A333D83F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81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Parse policy pages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1FACC-9C71-4F94-9173-AD5D227C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PyMuPDF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918BE-E397-428D-976E-029424F1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Creates analyzable 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15EF9-BCB1-48FA-9725-EA6E39AE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Document Classifier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5BBD4-3D9B-4BE2-AD25-5D5F10A8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050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Identify document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B28F2-6ACA-4EBD-ACA4-032D227F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Rules + 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45756-DBDA-47AB-BAD9-D1D4F179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Routes correct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44867-9ECD-45B4-AB5A-4F71BAD4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Summarizer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9BECC-8CB1-4060-ABE8-CC1C9E29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28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Create structured 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20A10-9C7D-4E9C-9BF6-9855F369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289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LLM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FC619-67ED-4A2F-9C16-DA54AD9D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289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Speeds analyst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3688A-F8CE-4D19-9FE1-0D4806D0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Version Comparison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086F1-A8E6-43E8-9E9D-F6B9DE28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Compare old vs new policies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51FF8-63ED-4330-B2E4-5605F9BB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52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Diff + 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004236-ECC9-4083-A105-641ECF17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Highlights meaningful 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4E6258-332C-4401-BB8E-F5177346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Embeddings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8ED45B-0D38-46C0-A684-478E899E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766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Vectorize text chunks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9290D-AB42-4484-8CD0-76E33EC3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76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Sentence Transformers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0B1408-F267-4E36-88E0-2F70B658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Enables semantic retrieval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57D72F-9C43-480F-97AC-92A407BB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Vector Store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1ADD8-1C49-4754-8310-1093A4A2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Store/search vectors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78F6B1-644E-4A31-A928-03E2A610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004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FAISS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E77BAA-83B8-45F8-AD13-51BE88CC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004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Fast similarity search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782F3D-2E06-4AA1-9A82-C092F86F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RAG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9FD7FA-4519-4B05-89DE-078C33D6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Answer policy questions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CA9510-F7D5-4D1F-AF12-C1B98157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243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Retriever + LLM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D0C847-4E67-4CB6-81DF-DD04B4F1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243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Grounded policy Q&amp;A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58EF14-3310-4ADD-9E2F-70AD2DCA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Prompt Manager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49FA3F-7898-4F72-8AF3-C2349CF3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Centralize prompts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2BC07D-5A6D-44B2-BD8E-B78FA498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481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Template control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73130C-F6AA-434E-9105-5685BFB9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481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Consistent prompt quality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8F32B5-EFC8-440A-BCDF-7951EF97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4651C1-3B04-4229-81D4-ECBA3D4F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57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588872-61FC-4D91-B388-99B9A3FE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573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347BB5-4845-49DF-B722-91EDFAFF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573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Business Benefit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E51A1D-BC93-4523-A92F-F9F914A7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812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Rule Extraction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9C1B36-0DB3-425C-A60E-0CD2C8C5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Convert policy to rules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13B33F-BD2B-4B85-A970-2EE06103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LLM + schema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8BABED-D50D-4D73-A5A7-D1A1224D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812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Draft executable logic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0278FB-BE06-430D-AA6A-38E92708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50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Feature Extraction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2C829A-8535-4FEF-985E-91B6EFEA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50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Create structured features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6D9B37-4A66-456E-8321-445BA3FF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05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LLM + regex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3B49B7-1334-4BE1-823E-6E0C90FB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050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Model-ready policy data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83DA5A-4A4D-4352-B11F-140D5992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89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Rule Engine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C69CC5-F1AF-4885-BB89-9FB43E98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Evaluate rules on features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EBCF4C-FC8C-47EC-A5BA-39EC4A02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289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Deterministic Python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23BC15-C70D-4482-8F1E-11464417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289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Transparent decision checks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63E53E-1459-49B4-B0E5-AFD5439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ML Model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E1413C-D89E-446E-AF51-6DF97D1E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52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Generate predictive signals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76FEEBF-B213-431B-9617-29FBEDC2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52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Scikit-learn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7A676DE-D641-4F6A-9ACC-702F9E61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527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Adds probabilistic support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574D06-585C-4274-A390-12E6F657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766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Claim Decision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466A5B-8D69-4E2F-892A-61198FAB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766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Combine rule + ML signals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51202D-CB45-4F03-8FDD-E50C7FF0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76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Hybrid logic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06C117-9D21-457D-A570-BE64D189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766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Final recommendation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F1A627-1CC9-4922-BD80-64B7BC30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Explainability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BDD449-96B8-4B16-B141-DE858BCA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Explain why decision happened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4ED027C-5F45-4BBD-ADAB-438DC1F3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Traceable reasoning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C5C0BD6-E691-49F5-A4B8-AE273765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004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Builds user trust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E16935-8E9A-46C5-BD56-C7D788AB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Evaluation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FD78F6-8C37-4B8E-83B2-37972D88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24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Score system quality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B99247C-E479-4399-9ACF-5B297616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243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Rule-based QA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54E53CD-ADD9-48F6-8896-9246DCAE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243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Monitors groundedness</a:t>
            </a:r>
          </a:p>
        </p:txBody>
      </p:sp>
    </p:spTree>
    <p:extLst>
      <p:ext uri="{BB962C8B-B14F-4D97-AF65-F5344CB8AC3E}">
        <p14:creationId xmlns:p14="http://schemas.microsoft.com/office/powerpoint/2010/main" val="603583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85D1A-30E6-4F00-ABD7-853D151D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POC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2E925-C857-406B-9806-F097B401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Suggested storyboard for the live demo and screenshot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7D024-F49E-4D89-A5BC-D6FCC85C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0F354-4CFD-484D-83E0-04AD5CE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6488E-1D5D-421B-B8E1-25543870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CDF80-2E8B-4AFB-8190-73AF62F9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74EA6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B27EF-5532-4B8E-AB35-9F91A288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Upload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40284-0B36-48C3-A4A2-8E21563B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Show policy upload and extraction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FB060-E464-45E7-8FD9-D0CE177F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174EA6"/>
                </a:solidFill>
              </a:defRPr>
            </a:pPr>
            <a:r>
              <a:rPr sz="900" b="0" i="1">
                <a:solidFill>
                  <a:srgbClr val="174EA6"/>
                </a:solidFill>
              </a:rPr>
              <a:t>Insert working POC screenshot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54C05-F87E-4B31-A02A-10D6A9E1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668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74EA6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036E4-8F70-4515-8BF1-BED4D9CD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002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Classification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F225D-AE16-4E9A-874C-5B82BB0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Display document type and 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B95FC-2067-4360-9219-4EE895E5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174EA6"/>
                </a:solidFill>
              </a:defRPr>
            </a:pPr>
            <a:r>
              <a:rPr sz="900" b="0" i="1">
                <a:solidFill>
                  <a:srgbClr val="174EA6"/>
                </a:solidFill>
              </a:rPr>
              <a:t>Insert working POC screenshot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EB0E2-ECA6-4036-B5E8-7719AF56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74EA6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C99C3-89E9-4C51-A514-B03D384B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Summary page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F38C6-929C-4342-9077-46B22832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Show executive summary and structured sections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955C0-DE26-481B-9492-BD5DE38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174EA6"/>
                </a:solidFill>
              </a:defRPr>
            </a:pPr>
            <a:r>
              <a:rPr sz="900" b="0" i="1">
                <a:solidFill>
                  <a:srgbClr val="174EA6"/>
                </a:solidFill>
              </a:rPr>
              <a:t>Insert working POC screenshot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989FF-5DD9-4C73-AB97-42BAD83A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668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74EA6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B60CB-9502-4648-88A8-A8C9619E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002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Policy Chat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F9014-D4BB-419A-856B-8155BC23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050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Grounded policy answer with 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20FE1-8842-40BF-991B-7BC337BC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174EA6"/>
                </a:solidFill>
              </a:defRPr>
            </a:pPr>
            <a:r>
              <a:rPr sz="900" b="0" i="1">
                <a:solidFill>
                  <a:srgbClr val="174EA6"/>
                </a:solidFill>
              </a:rPr>
              <a:t>Insert working POC screenshot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6C09E-1615-4811-82D0-B2066865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74EA6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33B5B-BB2F-4E6F-B855-85EAFF1E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671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Rule Extraction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8BF95-5519-4696-860A-297E558D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719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Normalized rules and conditions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64CDFA-A053-4182-8460-A4F0BE37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386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174EA6"/>
                </a:solidFill>
              </a:defRPr>
            </a:pPr>
            <a:r>
              <a:rPr sz="900" b="0" i="1">
                <a:solidFill>
                  <a:srgbClr val="174EA6"/>
                </a:solidFill>
              </a:rPr>
              <a:t>Insert working POC screenshot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385553-A94F-4C9C-B990-BE35B022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74EA6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E90C9-245C-48DE-AA8A-2906307A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671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Claim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B4C83D-22D5-4B34-A1D9-DEF106CA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719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Hybrid decision with reasons and risks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E299BC-C6D0-46F0-B04E-9C8B01B3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386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174EA6"/>
                </a:solidFill>
              </a:defRPr>
            </a:pPr>
            <a:r>
              <a:rPr sz="900" b="0" i="1">
                <a:solidFill>
                  <a:srgbClr val="174EA6"/>
                </a:solidFill>
              </a:rPr>
              <a:t>Insert working POC screenshot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0C697A-EB10-4A11-8BBE-3D4ACF41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74EA6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2A37F7-3FBF-4F6C-B30F-0CBEC5B9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Analytics Dashboard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AACBD3-08C6-45B3-9530-33C2121A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End-to-end portfolio 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86A3C5-8B2C-4980-AB8F-7E526D4D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386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174EA6"/>
                </a:solidFill>
              </a:defRPr>
            </a:pPr>
            <a:r>
              <a:rPr sz="900" b="0" i="1">
                <a:solidFill>
                  <a:srgbClr val="174EA6"/>
                </a:solidFill>
              </a:rPr>
              <a:t>Insert working POC screenshot</a:t>
            </a:r>
          </a:p>
        </p:txBody>
      </p:sp>
    </p:spTree>
    <p:extLst>
      <p:ext uri="{BB962C8B-B14F-4D97-AF65-F5344CB8AC3E}">
        <p14:creationId xmlns:p14="http://schemas.microsoft.com/office/powerpoint/2010/main" val="1729743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8F48E7-97FB-41E9-9A09-A297048F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Business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A34B3-B5D6-4D68-BA54-37DC93AE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The proof of concept is designed to create operational leverage, not just technical novelty.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164CC-63A0-4BA4-AE9B-9FBB0938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1ABC4-B71D-4B6F-BE52-15141EA4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72E8D-E785-413C-A48A-449835ED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8ABD8-BEBD-421D-9F05-9A18DD46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B66"/>
                </a:solidFill>
              </a:defRPr>
            </a:pPr>
            <a:r>
              <a:rPr sz="1500" b="1" i="0">
                <a:solidFill>
                  <a:srgbClr val="123B66"/>
                </a:solidFill>
              </a:rPr>
              <a:t>Value infographic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4A771-4DEE-431A-B1F6-B0E394FC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03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6"/>
          </a:solidFill>
          <a:ln xmlns:a="http://schemas.openxmlformats.org/drawingml/2006/main" w="0">
            <a:solidFill>
              <a:srgbClr val="123B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Payment</a:t>
            </a:r>
          </a:p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Integrity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A9036-953D-4062-AC19-9CB6B68C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3D635-BC5B-4953-9D9F-96FFF7EE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Reduced manual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FB119-B6E8-4A4B-8D0B-BBC63F8B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8F6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53FCC-77BA-4E73-9800-8ECB4222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Faster policy updates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79B03-C07D-4EFF-869D-1F8AD9FE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9FFD1-65B9-46FC-BE5C-C0BB96FB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97316"/>
                </a:solidFill>
              </a:defRPr>
            </a:pPr>
            <a:r>
              <a:rPr sz="1350" b="1" i="0">
                <a:solidFill>
                  <a:srgbClr val="F97316"/>
                </a:solidFill>
              </a:rPr>
              <a:t>Improved consistency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9B7D2-2A30-4FD7-AEBF-DB5083B1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A2588-2560-4BD2-9D2F-7D1F9C44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813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Higher payment integrity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6E7DB-52D1-49BA-A533-7FB4EAD2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96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9F3F1-7319-4931-93F5-E9EE85D3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Scalable AI platform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63F4D-F344-4566-AB52-011ECC95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86CEB-175A-435A-BD9F-E2069E97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Human-in-the-loop validation</a:t>
            </a:r>
          </a:p>
        </p:txBody>
      </p:sp>
    </p:spTree>
    <p:extLst>
      <p:ext uri="{BB962C8B-B14F-4D97-AF65-F5344CB8AC3E}">
        <p14:creationId xmlns:p14="http://schemas.microsoft.com/office/powerpoint/2010/main" val="10332188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B62A2E-0160-4C5E-8AE5-B64A08BE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Responsible AI and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94EC1-4342-4A5C-88D6-75A1601D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High-stakes healthcare workflows require grounded answers, transparent logic, and visible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DF493-A569-4D4A-8734-A1F0AF97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6D29E-D369-4E9F-9EEE-210FAC6D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2361C-37C6-44F9-BD5A-39D23480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F5015-8FA5-4B4F-88E3-0D09E019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810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6F5"/>
          </a:solidFill>
          <a:ln xmlns:a="http://schemas.openxmlformats.org/drawingml/2006/main" w="9525">
            <a:solidFill>
              <a:srgbClr val="F2C7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916F0-0C8D-4A8B-9264-FBEC65D1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Hallucination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575C5-94D8-4B5F-9854-45B2D8EB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C897B-B623-4BD4-8ECF-4FF9E951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19250"/>
            <a:ext cx="5905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BF8"/>
          </a:solidFill>
          <a:ln xmlns:a="http://schemas.openxmlformats.org/drawingml/2006/main" w="9525">
            <a:solidFill>
              <a:srgbClr val="C7E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45966-D052-4EA0-AD96-BD8B8BF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52600"/>
            <a:ext cx="556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RAG grounds answers in retrieved policy text and source citations.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84B06-52B1-4522-BB8A-5F00845A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3810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6F5"/>
          </a:solidFill>
          <a:ln xmlns:a="http://schemas.openxmlformats.org/drawingml/2006/main" w="9525">
            <a:solidFill>
              <a:srgbClr val="F2C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9A45B-6B3A-48ED-A2C4-04E0913D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Policy ambiguity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2DDAF-B766-4460-A425-DF778C6D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479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67E84-7E5F-4E2C-8877-5F8875C4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57450"/>
            <a:ext cx="5905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BF8"/>
          </a:solidFill>
          <a:ln xmlns:a="http://schemas.openxmlformats.org/drawingml/2006/main" w="9525">
            <a:solidFill>
              <a:srgbClr val="C7E7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4ED95-305B-45E2-BDF9-565B6C4C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90800"/>
            <a:ext cx="556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Human reviewers validate summaries, rules, and decision recommendations.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56102-BA1E-4CCB-9A68-3AA30448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3810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6F5"/>
          </a:solidFill>
          <a:ln xmlns:a="http://schemas.openxmlformats.org/drawingml/2006/main" w="9525">
            <a:solidFill>
              <a:srgbClr val="F2C7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F2841-4342-4C2C-819C-ABFCC073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Low-confidence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3E2B6-3B04-4E5A-8B24-37FAAED3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6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83AC7-F58C-491E-95E0-3B61B0AC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95650"/>
            <a:ext cx="5905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BF8"/>
          </a:solidFill>
          <a:ln xmlns:a="http://schemas.openxmlformats.org/drawingml/2006/main" w="9525">
            <a:solidFill>
              <a:srgbClr val="C7E7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59DF5-BF19-4378-801F-86BD4E00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29000"/>
            <a:ext cx="556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Confidence scoring and evaluation signals surface uncertainty.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82B41-4CD5-4551-B36B-7487A398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3810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6F5"/>
          </a:solidFill>
          <a:ln xmlns:a="http://schemas.openxmlformats.org/drawingml/2006/main" w="9525">
            <a:solidFill>
              <a:srgbClr val="F2C7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FD7F3-A087-4B60-AB7F-C828120F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Opaque recommendations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093F5-FA6A-44B8-845F-771E2D44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24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F4D13-E893-485D-BF98-D734480D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33850"/>
            <a:ext cx="5905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BF8"/>
          </a:solidFill>
          <a:ln xmlns:a="http://schemas.openxmlformats.org/drawingml/2006/main" w="9525">
            <a:solidFill>
              <a:srgbClr val="C7E7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A92CF1-8788-431F-BD4A-62AB6807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67200"/>
            <a:ext cx="556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Explainability module shows reasons, evidence, and next actions.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5885BA-7D12-4E42-8031-3D41F29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3810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6F5"/>
          </a:solidFill>
          <a:ln xmlns:a="http://schemas.openxmlformats.org/drawingml/2006/main" w="9525">
            <a:solidFill>
              <a:srgbClr val="F2C7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CB71A7-488B-4C7D-A5D2-03CB7338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Compliance exposure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4607EC-9E1B-4BD1-8CAA-0ACE471F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62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5A35AA-E304-4551-84A8-7714BCCA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72050"/>
            <a:ext cx="5905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BF8"/>
          </a:solidFill>
          <a:ln xmlns:a="http://schemas.openxmlformats.org/drawingml/2006/main" w="9525">
            <a:solidFill>
              <a:srgbClr val="C7E7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1A9FD6-5D35-4D67-B5C3-1088AC76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556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Audit trails, structured outputs, and HIPAA-aware handling support review.</a:t>
            </a:r>
          </a:p>
        </p:txBody>
      </p:sp>
    </p:spTree>
    <p:extLst>
      <p:ext uri="{BB962C8B-B14F-4D97-AF65-F5344CB8AC3E}">
        <p14:creationId xmlns:p14="http://schemas.microsoft.com/office/powerpoint/2010/main" val="1172914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CA1867-A24B-498D-B2D5-BC721E91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Future Enhancements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DBF47-ADBE-4049-B1C4-FB4392E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A phased roadmap keeps the strategy practical while expanding the intelligence layer over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45CBB-F905-4284-A822-626F0060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D3B8D-9A01-43B3-996B-5D7FAB8A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5AF31-8106-45A5-A03D-F57F11E0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50FDB-FA34-46B0-995C-ACD87E44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19300"/>
            <a:ext cx="2895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C5A3A-85C6-47DC-9EBE-67FF1A26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92F2B-1CB6-43B8-95F3-FFB52C62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25527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Imaging policy rollout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Prior authorization workflows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Human-reviewed rule authoring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92355-AE46-427C-980B-CA9F4CA7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9DA3B-6AB2-483F-B071-9AD13D6B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2895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8F6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58A72-D39B-4995-AE94-0F1A4281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8D7A8-FF1D-44F3-BE6E-7BA2214F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5527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FHIR integration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Knowledge graph layer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Cloud-hosted collaboration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157BC-5071-4A2F-A67F-88EAD061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48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A8911-C5A4-4C2A-B615-3393BAA4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2895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0706A-51EC-4404-9229-B615971B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Later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2228A-33D7-4D8D-B737-35A3A833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25527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Graph RAG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Multi-agent orchestration</a:t>
            </a:r>
          </a:p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Real-time monitoring and feedback 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CCB4E-87CD-478E-A5EC-9175C97F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9906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5F861-2D7B-485C-A003-D75EF741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56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Strategic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77117-35B0-4B98-B086-B7FA044D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956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Start with a narrow, high-value analyst copilot and expand only after the trust, retrieval quality, and rule-feature alignment are strong.</a:t>
            </a:r>
          </a:p>
        </p:txBody>
      </p:sp>
    </p:spTree>
    <p:extLst>
      <p:ext uri="{BB962C8B-B14F-4D97-AF65-F5344CB8AC3E}">
        <p14:creationId xmlns:p14="http://schemas.microsoft.com/office/powerpoint/2010/main" val="10386560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6CB606-E0F6-4476-AB97-83B944ED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4DEA9-E72E-4E37-97DC-236FC384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The project demonstrates a practical path from policy documents to explainable decision support.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CECE5-8029-4408-8594-E07428C8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4D56B-A054-4387-B93F-E932F03F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C7E48-C670-4480-867F-5B764DBE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3A3CF-78C9-4E6E-BF88-36FA4D66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994A8-D5AB-471B-89EA-21C3DE94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01DDA-EE35-46AB-9107-D865B83C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Healthcare policy review is complex, slow, and difficult to operationalize consistently.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BE2EB-BFDD-4000-9C25-3F8FAA3C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1925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5908C-856F-498B-AC02-E8AE5A4D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3CDE5-C2BD-49BF-9E78-DECE26B8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A modular AI platform converts documents into grounded summaries, answers, rules, features, and recommendations.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7F988-D184-4823-95C3-24473B9F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6B4FE-8DF3-4C28-8DCC-EF10BD02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POC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3D00E-D788-4534-BA33-2D302FB1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The working Streamlit demonstrator shows the full end-to-end flow across multiple AI modules.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036B7-13EE-4EDA-A807-60C341C9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88C65-C89E-49DA-A46C-80F8C1AE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Strategic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9B93A-665D-4E89-BB5B-591A2BED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Cotiviti can explore this as a human-in-the-loop capability aligned with payment integrity workflows.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82BF9-27CE-4983-AAE3-21051A73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74EA6"/>
                </a:solidFill>
              </a:defRPr>
            </a:pPr>
            <a:r>
              <a:rPr sz="2250" b="1" i="0">
                <a:solidFill>
                  <a:srgbClr val="174EA6"/>
                </a:solidFill>
              </a:rPr>
              <a:t>AI + Human Expertise = Better Healthcare Payment Integrity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F9DC7-13E6-4A84-B7EC-DE5FCFA0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472"/>
                </a:solidFill>
              </a:defRPr>
            </a:pPr>
            <a:r>
              <a:rPr sz="1050" b="0" i="0">
                <a:solidFill>
                  <a:srgbClr val="5B6472"/>
                </a:solidFill>
              </a:rPr>
              <a:t>Detailed references are provided in the written report bibliography.</a:t>
            </a:r>
          </a:p>
        </p:txBody>
      </p:sp>
    </p:spTree>
    <p:extLst>
      <p:ext uri="{BB962C8B-B14F-4D97-AF65-F5344CB8AC3E}">
        <p14:creationId xmlns:p14="http://schemas.microsoft.com/office/powerpoint/2010/main" val="1754251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2026-07-01T01:02:01.1230000Z</dcterms:created>
  <dcterms:modified xsi:type="dcterms:W3CDTF">2026-07-01T01:02:01.1240000Z</dcterms:modified>
</coreProperties>
</file>