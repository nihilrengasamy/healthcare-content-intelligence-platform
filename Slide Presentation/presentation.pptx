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deck summarizes both my written report and my working proof of concept for Cotiviti.</a:t>
            </a:r>
          </a:p>
          <a:p>
            <a:r>
              <a:t>The topic is AI-powered healthcare content intelligence, which focuses on turning policy-heavy healthcare documents into structured, explainable decision support.</a:t>
            </a:r>
          </a:p>
          <a:p>
            <a:r>
              <a:t>I will start with the business problem, then show the proposed solution, the system architecture, the demonstration workflow, and the business value for Cotiviti.</a:t>
            </a:r>
          </a:p>
          <a:p>
            <a:r>
              <a:t>The key message is that this is not just an AI demo. It is a practical, human-in-the-loop platform concept that fits payment integrity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 starts with the nature of healthcare content itself. Policy documents are long, complex, and frequently updated.</a:t>
            </a:r>
          </a:p>
          <a:p>
            <a:r>
              <a:t>Today, much of the interpretation work still depends on manual reading, tribal knowledge, and delayed translation into operational logic.</a:t>
            </a:r>
          </a:p>
          <a:p>
            <a:r>
              <a:t>That creates risk in payment accuracy, workflow speed, and compliance. It also makes policy execution inconsistent across teams.</a:t>
            </a:r>
          </a:p>
          <a:p>
            <a:r>
              <a:t>This sets up the need for a simple but credible AI proof of concept that shows how documents can be transformed into usable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objective of this project is not to replace analysts. It is to improve how analysts work.</a:t>
            </a:r>
          </a:p>
          <a:p>
            <a:r>
              <a:t>On the left is the current process, which is document-heavy and slow to scale. On the right is the target process, where AI accelerates ingestion, search, summarization, extraction, and decision support.</a:t>
            </a:r>
          </a:p>
          <a:p>
            <a:r>
              <a:t>The real value comes from shifting effort away from basic reading and toward higher-value review and judgment.</a:t>
            </a:r>
          </a:p>
          <a:p>
            <a:r>
              <a:t>That transition is what the proof of concept was designed to demonstrate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matters for Cotiviti because the business problem is not abstract. It sits directly inside payment integrity and policy-driven operational work.</a:t>
            </a:r>
          </a:p>
          <a:p>
            <a:r>
              <a:t>The platform can reduce manual effort, speed up policy interpretation, and improve consistency without removing the analyst from the loop.</a:t>
            </a:r>
          </a:p>
          <a:p>
            <a:r>
              <a:t>It also creates explainability and reuse, which are important differentiators in regulated healthcare environments.</a:t>
            </a:r>
          </a:p>
          <a:p>
            <a:r>
              <a:t>This slide connects the technical build to clear business outcomes before we go deeper into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full system architecture for the proof of concept.</a:t>
            </a:r>
          </a:p>
          <a:p>
            <a:r>
              <a:t>The flow begins with multiple healthcare document types and then moves through ingestion, classification, summarization, comparison, embeddings, retrieval, extraction, decision support, and explainability.</a:t>
            </a:r>
          </a:p>
          <a:p>
            <a:r>
              <a:t>The architecture is modular by design, which means each stage can be evaluated separately while still contributing to an end-to-end workflow.</a:t>
            </a:r>
          </a:p>
          <a:p>
            <a:r>
              <a:t>That modularity is useful for Cotiviti because it supports phased adoption rather than requiring one large system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grouped the stack by purpose so the audience can see why each technology exists.</a:t>
            </a:r>
          </a:p>
          <a:p>
            <a:r>
              <a:t>Python and Streamlit support rapid application development. LangChain, embeddings, and FAISS support retrieval and search. Scikit-learn supports lightweight predictive signals. PyMuPDF and structured JSON outputs support document parsing and downstream reuse.</a:t>
            </a:r>
          </a:p>
          <a:p>
            <a:r>
              <a:t>The stack is intentionally practical for a hackathon-style proof of concept. It demonstrates capability without overcomplicating deployment.</a:t>
            </a:r>
          </a:p>
          <a:p>
            <a:r>
              <a:t>Next, I move from technology choice into the live workflow of the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live workflow that the proof of concept demonstrates.</a:t>
            </a:r>
          </a:p>
          <a:p>
            <a:r>
              <a:t>The user journey starts with document upload and continues through classification, summarization, version comparison, policy chat, rule extraction, feature extraction, rule execution, ML support, claim decisioning, explainability, and evaluation.</a:t>
            </a:r>
          </a:p>
          <a:p>
            <a:r>
              <a:t>The important point is that the POC proves the flow across modules, not just isolated technical features.</a:t>
            </a:r>
          </a:p>
          <a:p>
            <a:r>
              <a:t>That makes it a strong hackathon submission because it shows hands-on engineering and general capability without overcomplicating the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summarizes the full module inventory across the project.</a:t>
            </a:r>
          </a:p>
          <a:p>
            <a:r>
              <a:t>The left table covers ingestion, understanding, retrieval, and prompt governance. The right table covers extraction, decision logic, explainability, and evaluation.</a:t>
            </a:r>
          </a:p>
          <a:p>
            <a:r>
              <a:t>I framed each module in terms of business purpose and benefit so the audience can see how technical components map to operational value.</a:t>
            </a:r>
          </a:p>
          <a:p>
            <a:r>
              <a:t>This also reinforces that the platform is modular and extendable rather than being a one-off demo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designed to support the demo portion of the presentation.</a:t>
            </a:r>
          </a:p>
          <a:p>
            <a:r>
              <a:t>Each placeholder can be replaced with a clean screenshot from the working Streamlit application. The most important screens are upload, classification, summarization, policy chat, rule extraction, claim decisioning, and analytics.</a:t>
            </a:r>
          </a:p>
          <a:p>
            <a:r>
              <a:t>During the live presentation, I would walk through the workflow in the same order shown earlier so the story remains easy to follow.</a:t>
            </a:r>
          </a:p>
          <a:p>
            <a:r>
              <a:t>This keeps the POC concrete and visually grounded for both technical and non-technical reviewers.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business value is centered on better payment integrity supported by faster and more consistent policy intelligence.</a:t>
            </a:r>
          </a:p>
          <a:p>
            <a:r>
              <a:t>Instead of presenting aggressive ROI claims, this slide stays grounded in realistic value areas: reduced manual review, faster policy updates, better consistency, scalable platform design, and explainable human validation.</a:t>
            </a:r>
          </a:p>
          <a:p>
            <a:r>
              <a:t>That framing is important because this is a hackathon proof of concept. The goal is to demonstrate believable capability and strategic relevance, not to overclaim production results.</a:t>
            </a:r>
          </a:p>
          <a:p>
            <a:r>
              <a:t>Next, I address how the platform handles responsible AI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Responsible AI is essential for this use case because healthcare content directly influences high-stakes operational decisions.</a:t>
            </a:r>
          </a:p>
          <a:p>
            <a:r>
              <a:t>The main risks are hallucination, ambiguity, low confidence, lack of transparency, and compliance exposure.</a:t>
            </a:r>
          </a:p>
          <a:p>
            <a:r>
              <a:t>The platform addresses those risks through grounded retrieval, confidence signals, structured outputs, explainability, evaluation, and human-in-the-loop review.</a:t>
            </a:r>
          </a:p>
          <a:p>
            <a:r>
              <a:t>This is also why the recommendation is to position the system as decision support rather than as a fully autonomous adjudication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roadmap reflects the recommendation from the written report: start narrow, prove value, and then expand.</a:t>
            </a:r>
          </a:p>
          <a:p>
            <a:r>
              <a:t>The first phase focuses on use cases where policy interpretation matters immediately and where human review can stay closely involved.</a:t>
            </a:r>
          </a:p>
          <a:p>
            <a:r>
              <a:t>The next and later phases show how the platform could grow into richer interoperability, knowledge graph, and monitoring capabilities without changing the core business logic.</a:t>
            </a:r>
          </a:p>
          <a:p>
            <a:r>
              <a:t>That approach balances ambition with realism, which is important for both Cotiviti and the hackathon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 conclude, the core problem is real, the proposed solution is aligned to Cotiviti’s domain, and the proof of concept demonstrates the concept in a practical way.</a:t>
            </a:r>
          </a:p>
          <a:p>
            <a:r>
              <a:t>The platform is intentionally modular, explainable, and human-in-the-loop. That is what makes it more believable as a strategic direction than a generic AI demo.</a:t>
            </a:r>
          </a:p>
          <a:p>
            <a:r>
              <a:t>If Cotiviti wants to explore this area further, the best next step is a focused pilot around high-value policy use cases with clear evaluation criteria.</a:t>
            </a:r>
          </a:p>
          <a:p>
            <a:r>
              <a:t>The final takeaway is simple: AI plus human expertise can create better healthcare payment integrity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F50983-3C24-4DE3-9E6D-0B1453BE9C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23B66"/>
          </a:solidFill>
          <a:ln w="0">
            <a:solidFill>
              <a:srgbClr val="12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22DF07-1642-465B-A9CD-A858411D7FDA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2381250" cy="2667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0">
            <a:solidFill>
              <a:srgbClr val="EAF2FD"/>
            </a:solidFill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74EA6"/>
                </a:solidFill>
              </a:defRPr>
            </a:pPr>
            <a:r>
              <a:rPr sz="1050" b="1" i="0">
                <a:solidFill>
                  <a:srgbClr val="174EA6"/>
                </a:solidFill>
              </a:rPr>
              <a:t>Cotiviti Hackathon | Report + POC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68AFBD-F14F-4CD7-9EC5-AA67A801886D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590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 i="0">
                <a:solidFill>
                  <a:srgbClr val="123B66"/>
                </a:solidFill>
              </a:defRPr>
            </a:pPr>
            <a:r>
              <a:rPr sz="3450" b="1" i="0">
                <a:solidFill>
                  <a:srgbClr val="123B66"/>
                </a:solidFill>
              </a:rPr>
              <a:t>AI-Powered Healthcare Content Intelligence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9AC765-AB4A-4C7F-8B7D-8AC90B0CF64E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715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B6472"/>
                </a:solidFill>
              </a:defRPr>
            </a:pPr>
            <a:r>
              <a:rPr sz="1650" b="0" i="0">
                <a:solidFill>
                  <a:srgbClr val="5B6472"/>
                </a:solidFill>
              </a:rPr>
              <a:t>Transforming Healthcare Policies into Intelligent Decision Support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076E7D-6E71-4B99-AF89-00092B188D56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F2937"/>
                </a:solidFill>
              </a:defRPr>
            </a:pPr>
            <a:r>
              <a:rPr sz="1500" b="0" i="0">
                <a:solidFill>
                  <a:srgbClr val="1F2937"/>
                </a:solidFill>
              </a:rPr>
              <a:t>Nihil Rengasamy</a:t>
            </a:r>
          </a:p>
          <a:p>
            <a:pPr algn="l">
              <a:defRPr sz="1500" b="0" i="0">
                <a:solidFill>
                  <a:srgbClr val="1F2937"/>
                </a:solidFill>
              </a:defRPr>
            </a:pPr>
            <a:r>
              <a:rPr sz="1500" b="0" i="0">
                <a:solidFill>
                  <a:srgbClr val="1F2937"/>
                </a:solidFill>
              </a:rPr>
              <a:t>University at Albany</a:t>
            </a:r>
          </a:p>
          <a:p>
            <a:pPr algn="l">
              <a:defRPr sz="1500" b="0" i="0">
                <a:solidFill>
                  <a:srgbClr val="1F2937"/>
                </a:solidFill>
              </a:defRPr>
            </a:pPr>
            <a:r>
              <a:rPr sz="1500" b="0" i="0">
                <a:solidFill>
                  <a:srgbClr val="1F2937"/>
                </a:solidFill>
              </a:rPr>
              <a:t>June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F6DA8A-C421-4124-BB87-C649444A8851}"/>
              </a:ext>
            </a:extLst>
          </p:cNvPr>
          <p:cNvSpPr>
            <a:spLocks noGrp="1"/>
          </p:cNvSpPr>
          <p:nvPr/>
        </p:nvSpPr>
        <p:spPr>
          <a:xfrm>
            <a:off x="7239000" y="933450"/>
            <a:ext cx="4000500" cy="476250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606496-1539-4317-9ECD-F0B7F0FAB473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Policy PDFs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342195-B08F-4F4D-A2CF-529972CFAA13}"/>
              </a:ext>
            </a:extLst>
          </p:cNvPr>
          <p:cNvSpPr>
            <a:spLocks noGrp="1"/>
          </p:cNvSpPr>
          <p:nvPr/>
        </p:nvSpPr>
        <p:spPr>
          <a:xfrm>
            <a:off x="9124950" y="21717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089470-2B5E-41F0-83E2-9FD7A976E278}"/>
              </a:ext>
            </a:extLst>
          </p:cNvPr>
          <p:cNvSpPr>
            <a:spLocks noGrp="1"/>
          </p:cNvSpPr>
          <p:nvPr/>
        </p:nvSpPr>
        <p:spPr>
          <a:xfrm>
            <a:off x="7810500" y="2552700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AF8F5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AI Intelligence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64C857-5297-4B92-92F9-FC15977F9823}"/>
              </a:ext>
            </a:extLst>
          </p:cNvPr>
          <p:cNvSpPr>
            <a:spLocks noGrp="1"/>
          </p:cNvSpPr>
          <p:nvPr/>
        </p:nvSpPr>
        <p:spPr>
          <a:xfrm>
            <a:off x="9124950" y="3295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953661-7FAA-4CCA-AB56-299EEE90114A}"/>
              </a:ext>
            </a:extLst>
          </p:cNvPr>
          <p:cNvSpPr>
            <a:spLocks noGrp="1"/>
          </p:cNvSpPr>
          <p:nvPr/>
        </p:nvSpPr>
        <p:spPr>
          <a:xfrm>
            <a:off x="7810500" y="3676650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FFF5E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Decision Support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683EBF-D6E3-4758-B29D-66FADC31E18C}"/>
              </a:ext>
            </a:extLst>
          </p:cNvPr>
          <p:cNvSpPr>
            <a:spLocks noGrp="1"/>
          </p:cNvSpPr>
          <p:nvPr/>
        </p:nvSpPr>
        <p:spPr>
          <a:xfrm>
            <a:off x="7620000" y="4705350"/>
            <a:ext cx="323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Working POC covers classification, summarization, RAG, rule extraction, feature extraction, claim decision, explainability, and evaluation.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B6E721-C520-4E64-802C-34DAF8A046F4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</a:t>
            </a:r>
          </a:p>
        </p:txBody>
      </p:sp>
    </p:spTree>
    <p:extLst>
      <p:ext uri="{BB962C8B-B14F-4D97-AF65-F5344CB8AC3E}">
        <p14:creationId xmlns:p14="http://schemas.microsoft.com/office/powerpoint/2010/main" val="176937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92C3278-DF58-462D-80FB-E5205273C81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AE8B13-648B-4CE5-8B03-56C87D6BA34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Healthcare policy review is manual, fragmented, and difficult to operationalize at scale.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83E4A-09EE-48A8-8DE6-B8856EF36F67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8BD895-A487-4527-AFC4-28CFC933E6CA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49085-5F57-4487-ACA0-20B1523CF3C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2CFE53-34BF-4C87-8D0C-DF1221279D4F}"/>
              </a:ext>
            </a:extLst>
          </p:cNvPr>
          <p:cNvSpPr>
            <a:spLocks noGrp="1"/>
          </p:cNvSpPr>
          <p:nvPr/>
        </p:nvSpPr>
        <p:spPr>
          <a:xfrm>
            <a:off x="666750" y="1409700"/>
            <a:ext cx="4095750" cy="8572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27F33D-0870-4F8B-B6DC-B4120181E6D5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Manual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19768-73E5-487C-B05F-30A87EC3DC1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 dirty="0">
                <a:solidFill>
                  <a:srgbClr val="1F2937"/>
                </a:solidFill>
              </a:rPr>
              <a:t>Analysts read long PDFs and translate policy language into action.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DA9E1E-0ECE-4E8B-8EA4-C6DD63482440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4095750" cy="857250"/>
          </a:xfrm>
          <a:prstGeom prst="roundRect">
            <a:avLst>
              <a:gd name="adj" fmla="val 14634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419721-7A10-458F-9B6A-2C3A813157F7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Frequent changes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077C99-67AF-4AAD-989E-E81A606D32F5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>
                <a:solidFill>
                  <a:srgbClr val="1F2937"/>
                </a:solidFill>
              </a:rPr>
              <a:t>Coverage criteria and coding rules change faster than teams can operationalize.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D75964-358F-4767-A041-02BD96802BC8}"/>
              </a:ext>
            </a:extLst>
          </p:cNvPr>
          <p:cNvSpPr>
            <a:spLocks noGrp="1"/>
          </p:cNvSpPr>
          <p:nvPr/>
        </p:nvSpPr>
        <p:spPr>
          <a:xfrm>
            <a:off x="666750" y="3314700"/>
            <a:ext cx="4095750" cy="8572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39F1E9-2514-4C7A-BDE2-919D5DBE8D84}"/>
              </a:ext>
            </a:extLst>
          </p:cNvPr>
          <p:cNvSpPr>
            <a:spLocks noGrp="1"/>
          </p:cNvSpPr>
          <p:nvPr/>
        </p:nvSpPr>
        <p:spPr>
          <a:xfrm>
            <a:off x="838200" y="34480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Slow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01B9DA-4BA1-4BBE-BB05-970E24CF7696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>
                <a:solidFill>
                  <a:srgbClr val="1F2937"/>
                </a:solidFill>
              </a:rPr>
              <a:t>Policy updates take time to become usable rules and reference logic.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331409-3DB0-4268-BD4F-FA8933EF5117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095750" cy="857250"/>
          </a:xfrm>
          <a:prstGeom prst="roundRect">
            <a:avLst>
              <a:gd name="adj" fmla="val 14634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5C9B1E-8625-4032-A25C-66DFC116C837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Payment leakage risk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475587-25CC-4333-8DB2-6130898F8243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3752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1F2937"/>
                </a:solidFill>
              </a:defRPr>
            </a:pPr>
            <a:r>
              <a:rPr sz="1125" b="0" i="0">
                <a:solidFill>
                  <a:srgbClr val="1F2937"/>
                </a:solidFill>
              </a:rPr>
              <a:t>Misread or delayed policy interpretation can affect payment integrity.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900DA5-6A50-4BD2-A188-10D9BC81CB89}"/>
              </a:ext>
            </a:extLst>
          </p:cNvPr>
          <p:cNvSpPr>
            <a:spLocks noGrp="1"/>
          </p:cNvSpPr>
          <p:nvPr/>
        </p:nvSpPr>
        <p:spPr>
          <a:xfrm>
            <a:off x="5524500" y="1409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23B66"/>
                </a:solidFill>
              </a:defRPr>
            </a:pPr>
            <a:r>
              <a:rPr sz="1650" b="1" i="0">
                <a:solidFill>
                  <a:srgbClr val="123B66"/>
                </a:solidFill>
              </a:rPr>
              <a:t>Current challenge flow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7EA178C-8128-4B23-A71F-F13B54DAA2D5}"/>
              </a:ext>
            </a:extLst>
          </p:cNvPr>
          <p:cNvSpPr>
            <a:spLocks noGrp="1"/>
          </p:cNvSpPr>
          <p:nvPr/>
        </p:nvSpPr>
        <p:spPr>
          <a:xfrm>
            <a:off x="5619750" y="1952625"/>
            <a:ext cx="1809750" cy="590550"/>
          </a:xfrm>
          <a:prstGeom prst="roundRect">
            <a:avLst>
              <a:gd name="adj" fmla="val 19355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Policy PDF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1F78D-69D0-4DDF-BA7E-AB5F45B759C3}"/>
              </a:ext>
            </a:extLst>
          </p:cNvPr>
          <p:cNvSpPr>
            <a:spLocks noGrp="1"/>
          </p:cNvSpPr>
          <p:nvPr/>
        </p:nvSpPr>
        <p:spPr>
          <a:xfrm>
            <a:off x="7677150" y="21145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021B358-BA27-4C9D-A7AD-F0DA6954FCAB}"/>
              </a:ext>
            </a:extLst>
          </p:cNvPr>
          <p:cNvSpPr>
            <a:spLocks noGrp="1"/>
          </p:cNvSpPr>
          <p:nvPr/>
        </p:nvSpPr>
        <p:spPr>
          <a:xfrm>
            <a:off x="8096250" y="1952625"/>
            <a:ext cx="2000250" cy="590550"/>
          </a:xfrm>
          <a:prstGeom prst="roundRect">
            <a:avLst>
              <a:gd name="adj" fmla="val 19355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Manual analyst review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CB8E1D-B758-4CDF-BB34-42B6E345AD27}"/>
              </a:ext>
            </a:extLst>
          </p:cNvPr>
          <p:cNvSpPr>
            <a:spLocks noGrp="1"/>
          </p:cNvSpPr>
          <p:nvPr/>
        </p:nvSpPr>
        <p:spPr>
          <a:xfrm>
            <a:off x="9001125" y="27813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027127A-CF06-4577-BC2D-B7320338214A}"/>
              </a:ext>
            </a:extLst>
          </p:cNvPr>
          <p:cNvSpPr>
            <a:spLocks noGrp="1"/>
          </p:cNvSpPr>
          <p:nvPr/>
        </p:nvSpPr>
        <p:spPr>
          <a:xfrm>
            <a:off x="8096250" y="3181350"/>
            <a:ext cx="2000250" cy="590550"/>
          </a:xfrm>
          <a:prstGeom prst="roundRect">
            <a:avLst>
              <a:gd name="adj" fmla="val 19355"/>
            </a:avLst>
          </a:prstGeom>
          <a:solidFill>
            <a:srgbClr val="FFF6F5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Interpretation lag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A601DD-9EE7-4B87-BF8C-753E257E2CA2}"/>
              </a:ext>
            </a:extLst>
          </p:cNvPr>
          <p:cNvSpPr>
            <a:spLocks noGrp="1"/>
          </p:cNvSpPr>
          <p:nvPr/>
        </p:nvSpPr>
        <p:spPr>
          <a:xfrm>
            <a:off x="7677150" y="3352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←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5B26D1D-BD7D-4A68-A46A-7E559F870B18}"/>
              </a:ext>
            </a:extLst>
          </p:cNvPr>
          <p:cNvSpPr>
            <a:spLocks noGrp="1"/>
          </p:cNvSpPr>
          <p:nvPr/>
        </p:nvSpPr>
        <p:spPr>
          <a:xfrm>
            <a:off x="5619750" y="3181350"/>
            <a:ext cx="1809750" cy="590550"/>
          </a:xfrm>
          <a:prstGeom prst="roundRect">
            <a:avLst>
              <a:gd name="adj" fmla="val 19355"/>
            </a:avLst>
          </a:prstGeom>
          <a:solidFill>
            <a:srgbClr val="FFF6F5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Delayed rule usage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8CC3A8F-B675-40AF-96CE-37BF834B1DF5}"/>
              </a:ext>
            </a:extLst>
          </p:cNvPr>
          <p:cNvSpPr>
            <a:spLocks noGrp="1"/>
          </p:cNvSpPr>
          <p:nvPr/>
        </p:nvSpPr>
        <p:spPr>
          <a:xfrm>
            <a:off x="5476875" y="4429125"/>
            <a:ext cx="4953000" cy="1123950"/>
          </a:xfrm>
          <a:prstGeom prst="roundRect">
            <a:avLst>
              <a:gd name="adj" fmla="val 10169"/>
            </a:avLst>
          </a:prstGeom>
          <a:solidFill>
            <a:srgbClr val="EAF2FD"/>
          </a:solidFill>
          <a:ln w="9525">
            <a:solidFill>
              <a:srgbClr val="CFE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955906-DEB8-442B-9968-5821113257A6}"/>
              </a:ext>
            </a:extLst>
          </p:cNvPr>
          <p:cNvSpPr>
            <a:spLocks noGrp="1"/>
          </p:cNvSpPr>
          <p:nvPr/>
        </p:nvSpPr>
        <p:spPr>
          <a:xfrm>
            <a:off x="5648325" y="4562475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Core implication for Cotiviti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28A43E-173B-42BD-918E-5AC64A071B09}"/>
              </a:ext>
            </a:extLst>
          </p:cNvPr>
          <p:cNvSpPr>
            <a:spLocks noGrp="1"/>
          </p:cNvSpPr>
          <p:nvPr/>
        </p:nvSpPr>
        <p:spPr>
          <a:xfrm>
            <a:off x="5648325" y="4867275"/>
            <a:ext cx="4610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Policy understanding stays person-dependent</a:t>
            </a:r>
          </a:p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Scaling quality requires more effort, not more intelligence</a:t>
            </a:r>
          </a:p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Decision support arrives too late in the workflow</a:t>
            </a:r>
          </a:p>
        </p:txBody>
      </p:sp>
    </p:spTree>
    <p:extLst>
      <p:ext uri="{BB962C8B-B14F-4D97-AF65-F5344CB8AC3E}">
        <p14:creationId xmlns:p14="http://schemas.microsoft.com/office/powerpoint/2010/main" val="201042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09E3F89-35A6-4ACB-8AC8-CAC7C7AF369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Project Objective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A50FC6-7453-48AC-96CA-08E4D56E881A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Move from document-heavy manual review to an AI-assisted, human-validated operating model.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8FB4A4-61AF-4DCA-B0B9-628B8A422CF0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773CA2-BE64-437A-8585-C3D1BB893848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5AA8A-6234-4152-AC6A-1B9A4B4B53F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7E1685-9231-49D0-A495-40A063EFE2F7}"/>
              </a:ext>
            </a:extLst>
          </p:cNvPr>
          <p:cNvSpPr>
            <a:spLocks noGrp="1"/>
          </p:cNvSpPr>
          <p:nvPr/>
        </p:nvSpPr>
        <p:spPr>
          <a:xfrm>
            <a:off x="990600" y="13906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D92D20"/>
                </a:solidFill>
              </a:defRPr>
            </a:pPr>
            <a:r>
              <a:rPr sz="1800" b="1" i="0">
                <a:solidFill>
                  <a:srgbClr val="D92D20"/>
                </a:solidFill>
              </a:rPr>
              <a:t>Current process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5EF645-4829-4547-80CF-1541EAB9413C}"/>
              </a:ext>
            </a:extLst>
          </p:cNvPr>
          <p:cNvSpPr>
            <a:spLocks noGrp="1"/>
          </p:cNvSpPr>
          <p:nvPr/>
        </p:nvSpPr>
        <p:spPr>
          <a:xfrm>
            <a:off x="1123950" y="1905000"/>
            <a:ext cx="2952750" cy="552450"/>
          </a:xfrm>
          <a:prstGeom prst="roundRect">
            <a:avLst>
              <a:gd name="adj" fmla="val 20690"/>
            </a:avLst>
          </a:prstGeom>
          <a:solidFill>
            <a:srgbClr val="FFF6F5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Read PDF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ABCB62-8A3D-4A73-A33B-1404E7362833}"/>
              </a:ext>
            </a:extLst>
          </p:cNvPr>
          <p:cNvSpPr>
            <a:spLocks noGrp="1"/>
          </p:cNvSpPr>
          <p:nvPr/>
        </p:nvSpPr>
        <p:spPr>
          <a:xfrm>
            <a:off x="2495550" y="24765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98F182-1FA2-4E17-8E7C-0BD9120BF31E}"/>
              </a:ext>
            </a:extLst>
          </p:cNvPr>
          <p:cNvSpPr>
            <a:spLocks noGrp="1"/>
          </p:cNvSpPr>
          <p:nvPr/>
        </p:nvSpPr>
        <p:spPr>
          <a:xfrm>
            <a:off x="1123950" y="2809875"/>
            <a:ext cx="2952750" cy="552450"/>
          </a:xfrm>
          <a:prstGeom prst="roundRect">
            <a:avLst>
              <a:gd name="adj" fmla="val 20690"/>
            </a:avLst>
          </a:prstGeom>
          <a:solidFill>
            <a:srgbClr val="FFF6F5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Interpret policy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955863-E6E4-429D-92CA-623B15B0F9A4}"/>
              </a:ext>
            </a:extLst>
          </p:cNvPr>
          <p:cNvSpPr>
            <a:spLocks noGrp="1"/>
          </p:cNvSpPr>
          <p:nvPr/>
        </p:nvSpPr>
        <p:spPr>
          <a:xfrm>
            <a:off x="2495550" y="3381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89F73B-DC5C-4275-ADFA-470DAABB1146}"/>
              </a:ext>
            </a:extLst>
          </p:cNvPr>
          <p:cNvSpPr>
            <a:spLocks noGrp="1"/>
          </p:cNvSpPr>
          <p:nvPr/>
        </p:nvSpPr>
        <p:spPr>
          <a:xfrm>
            <a:off x="1123950" y="3714750"/>
            <a:ext cx="2952750" cy="552450"/>
          </a:xfrm>
          <a:prstGeom prst="roundRect">
            <a:avLst>
              <a:gd name="adj" fmla="val 20690"/>
            </a:avLst>
          </a:prstGeom>
          <a:solidFill>
            <a:srgbClr val="FFF6F5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Translate to rules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8F6CF8-0BE9-441F-A735-D8326088BC8F}"/>
              </a:ext>
            </a:extLst>
          </p:cNvPr>
          <p:cNvSpPr>
            <a:spLocks noGrp="1"/>
          </p:cNvSpPr>
          <p:nvPr/>
        </p:nvSpPr>
        <p:spPr>
          <a:xfrm>
            <a:off x="2495550" y="42862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4F3827-74A0-485C-8CA6-8DB1F94AC298}"/>
              </a:ext>
            </a:extLst>
          </p:cNvPr>
          <p:cNvSpPr>
            <a:spLocks noGrp="1"/>
          </p:cNvSpPr>
          <p:nvPr/>
        </p:nvSpPr>
        <p:spPr>
          <a:xfrm>
            <a:off x="1123950" y="4619625"/>
            <a:ext cx="2952750" cy="552450"/>
          </a:xfrm>
          <a:prstGeom prst="roundRect">
            <a:avLst>
              <a:gd name="adj" fmla="val 20690"/>
            </a:avLst>
          </a:prstGeom>
          <a:solidFill>
            <a:srgbClr val="FFF6F5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Review exceptions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E08A9-A5EC-4645-9030-C1AB7462379C}"/>
              </a:ext>
            </a:extLst>
          </p:cNvPr>
          <p:cNvSpPr>
            <a:spLocks noGrp="1"/>
          </p:cNvSpPr>
          <p:nvPr/>
        </p:nvSpPr>
        <p:spPr>
          <a:xfrm>
            <a:off x="7905750" y="13906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F9D74"/>
                </a:solidFill>
              </a:defRPr>
            </a:pPr>
            <a:r>
              <a:rPr sz="1800" b="1" i="0">
                <a:solidFill>
                  <a:srgbClr val="1F9D74"/>
                </a:solidFill>
              </a:rPr>
              <a:t>AI-powered process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7AC775-F5DA-4165-9466-CC900C23C696}"/>
              </a:ext>
            </a:extLst>
          </p:cNvPr>
          <p:cNvSpPr>
            <a:spLocks noGrp="1"/>
          </p:cNvSpPr>
          <p:nvPr/>
        </p:nvSpPr>
        <p:spPr>
          <a:xfrm>
            <a:off x="8020050" y="1714500"/>
            <a:ext cx="2952750" cy="495300"/>
          </a:xfrm>
          <a:prstGeom prst="roundRect">
            <a:avLst>
              <a:gd name="adj" fmla="val 23077"/>
            </a:avLst>
          </a:prstGeom>
          <a:solidFill>
            <a:srgbClr val="F3FBF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Upload &amp; classify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78DE24-C5A5-4897-A35F-9819D19F7834}"/>
              </a:ext>
            </a:extLst>
          </p:cNvPr>
          <p:cNvSpPr>
            <a:spLocks noGrp="1"/>
          </p:cNvSpPr>
          <p:nvPr/>
        </p:nvSpPr>
        <p:spPr>
          <a:xfrm>
            <a:off x="9391650" y="2209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E6B756-943C-452D-8B07-1917F3A84DDD}"/>
              </a:ext>
            </a:extLst>
          </p:cNvPr>
          <p:cNvSpPr>
            <a:spLocks noGrp="1"/>
          </p:cNvSpPr>
          <p:nvPr/>
        </p:nvSpPr>
        <p:spPr>
          <a:xfrm>
            <a:off x="8020050" y="2428875"/>
            <a:ext cx="2952750" cy="495300"/>
          </a:xfrm>
          <a:prstGeom prst="roundRect">
            <a:avLst>
              <a:gd name="adj" fmla="val 23077"/>
            </a:avLst>
          </a:prstGeom>
          <a:solidFill>
            <a:srgbClr val="F3FBF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Summarize &amp; compare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CC8EA1-F326-496C-A7D2-96F0EB375018}"/>
              </a:ext>
            </a:extLst>
          </p:cNvPr>
          <p:cNvSpPr>
            <a:spLocks noGrp="1"/>
          </p:cNvSpPr>
          <p:nvPr/>
        </p:nvSpPr>
        <p:spPr>
          <a:xfrm>
            <a:off x="9391650" y="29241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7A501A-9AE8-4715-9BFC-7F3FD170D3D9}"/>
              </a:ext>
            </a:extLst>
          </p:cNvPr>
          <p:cNvSpPr>
            <a:spLocks noGrp="1"/>
          </p:cNvSpPr>
          <p:nvPr/>
        </p:nvSpPr>
        <p:spPr>
          <a:xfrm>
            <a:off x="8020050" y="3143250"/>
            <a:ext cx="2952750" cy="495300"/>
          </a:xfrm>
          <a:prstGeom prst="roundRect">
            <a:avLst>
              <a:gd name="adj" fmla="val 23077"/>
            </a:avLst>
          </a:prstGeom>
          <a:solidFill>
            <a:srgbClr val="F3FBF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Ask grounded questions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EF1FFF-42DF-410A-90AD-9F71B0CCA4F2}"/>
              </a:ext>
            </a:extLst>
          </p:cNvPr>
          <p:cNvSpPr>
            <a:spLocks noGrp="1"/>
          </p:cNvSpPr>
          <p:nvPr/>
        </p:nvSpPr>
        <p:spPr>
          <a:xfrm>
            <a:off x="9391650" y="36385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0B68AA-C24B-468A-A636-5A469A0AC0E4}"/>
              </a:ext>
            </a:extLst>
          </p:cNvPr>
          <p:cNvSpPr>
            <a:spLocks noGrp="1"/>
          </p:cNvSpPr>
          <p:nvPr/>
        </p:nvSpPr>
        <p:spPr>
          <a:xfrm>
            <a:off x="8020050" y="3857625"/>
            <a:ext cx="2952750" cy="495300"/>
          </a:xfrm>
          <a:prstGeom prst="roundRect">
            <a:avLst>
              <a:gd name="adj" fmla="val 23077"/>
            </a:avLst>
          </a:prstGeom>
          <a:solidFill>
            <a:srgbClr val="F3FBF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Extract rules &amp; features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850794-B5E4-449F-A669-629DF86208B0}"/>
              </a:ext>
            </a:extLst>
          </p:cNvPr>
          <p:cNvSpPr>
            <a:spLocks noGrp="1"/>
          </p:cNvSpPr>
          <p:nvPr/>
        </p:nvSpPr>
        <p:spPr>
          <a:xfrm>
            <a:off x="9391650" y="43529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A3BEB16-4C13-48F8-80B4-116A32B6B2A6}"/>
              </a:ext>
            </a:extLst>
          </p:cNvPr>
          <p:cNvSpPr>
            <a:spLocks noGrp="1"/>
          </p:cNvSpPr>
          <p:nvPr/>
        </p:nvSpPr>
        <p:spPr>
          <a:xfrm>
            <a:off x="8020050" y="4572000"/>
            <a:ext cx="2952750" cy="495300"/>
          </a:xfrm>
          <a:prstGeom prst="roundRect">
            <a:avLst>
              <a:gd name="adj" fmla="val 23077"/>
            </a:avLst>
          </a:prstGeom>
          <a:solidFill>
            <a:srgbClr val="F3FBF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Support decisions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8532B6-35B2-4EE2-BA18-A90E9683465B}"/>
              </a:ext>
            </a:extLst>
          </p:cNvPr>
          <p:cNvSpPr>
            <a:spLocks noGrp="1"/>
          </p:cNvSpPr>
          <p:nvPr/>
        </p:nvSpPr>
        <p:spPr>
          <a:xfrm>
            <a:off x="5334000" y="31051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17E1177-C599-4240-B53F-84FE9FA967A8}"/>
              </a:ext>
            </a:extLst>
          </p:cNvPr>
          <p:cNvSpPr>
            <a:spLocks noGrp="1"/>
          </p:cNvSpPr>
          <p:nvPr/>
        </p:nvSpPr>
        <p:spPr>
          <a:xfrm>
            <a:off x="4457700" y="2533650"/>
            <a:ext cx="2952750" cy="1200150"/>
          </a:xfrm>
          <a:prstGeom prst="roundRect">
            <a:avLst>
              <a:gd name="adj" fmla="val 9524"/>
            </a:avLst>
          </a:prstGeom>
          <a:solidFill>
            <a:srgbClr val="EAF2FD"/>
          </a:solidFill>
          <a:ln w="9525">
            <a:solidFill>
              <a:srgbClr val="CFE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907E9E-18FF-4B56-B516-A347D2C811A2}"/>
              </a:ext>
            </a:extLst>
          </p:cNvPr>
          <p:cNvSpPr>
            <a:spLocks noGrp="1"/>
          </p:cNvSpPr>
          <p:nvPr/>
        </p:nvSpPr>
        <p:spPr>
          <a:xfrm>
            <a:off x="4629150" y="2667000"/>
            <a:ext cx="260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Automation opportunities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EEDD9C-99DA-42A6-836F-AF401D7E5BF0}"/>
              </a:ext>
            </a:extLst>
          </p:cNvPr>
          <p:cNvSpPr>
            <a:spLocks noGrp="1"/>
          </p:cNvSpPr>
          <p:nvPr/>
        </p:nvSpPr>
        <p:spPr>
          <a:xfrm>
            <a:off x="4629150" y="2971800"/>
            <a:ext cx="2609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Reduce repetitive document reading</a:t>
            </a:r>
          </a:p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Standardize interpretation</a:t>
            </a:r>
          </a:p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• Surface explainable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633201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19133A9-8173-43A7-A669-419CF5F66C8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Why This Matters for Cotiviti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AADE20-FECE-4927-9A37-141570295AE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The use case aligns directly with payment integrity, policy interpretation, and explainable operational decision support.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AA1F3-1A24-41F6-AD43-C653A5CC6F4F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B36B0-FD3B-4A5A-87A8-98D632A60C6D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19034-160F-4B7E-B60A-8E294302173B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281369-0A25-49AA-B2C5-D6117D08D3D5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3276600" cy="1257300"/>
          </a:xfrm>
          <a:prstGeom prst="roundRect">
            <a:avLst>
              <a:gd name="adj" fmla="val 9091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54D993-6CCC-4672-8330-6F28D694F8F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Reduced manual effort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88E73F-2A17-475F-A10F-D91438C99E90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Less time spent reading and re-reading long policy PDFs.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5875D4-548B-466C-9684-3432A1F36B27}"/>
              </a:ext>
            </a:extLst>
          </p:cNvPr>
          <p:cNvSpPr>
            <a:spLocks noGrp="1"/>
          </p:cNvSpPr>
          <p:nvPr/>
        </p:nvSpPr>
        <p:spPr>
          <a:xfrm>
            <a:off x="4324350" y="1524000"/>
            <a:ext cx="3276600" cy="1257300"/>
          </a:xfrm>
          <a:prstGeom prst="roundRect">
            <a:avLst>
              <a:gd name="adj" fmla="val 9091"/>
            </a:avLst>
          </a:prstGeom>
          <a:solidFill>
            <a:srgbClr val="F3FBF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7AF1F9-00DC-45CA-887D-17C303FD178F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Faster policy updates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ECB6A3-55D9-4280-820C-CF098BE2127D}"/>
              </a:ext>
            </a:extLst>
          </p:cNvPr>
          <p:cNvSpPr>
            <a:spLocks noGrp="1"/>
          </p:cNvSpPr>
          <p:nvPr/>
        </p:nvSpPr>
        <p:spPr>
          <a:xfrm>
            <a:off x="4495800" y="196215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Shorter path from policy revision to usable decision support.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2A83A9-C72D-4919-AD10-21528AA917D1}"/>
              </a:ext>
            </a:extLst>
          </p:cNvPr>
          <p:cNvSpPr>
            <a:spLocks noGrp="1"/>
          </p:cNvSpPr>
          <p:nvPr/>
        </p:nvSpPr>
        <p:spPr>
          <a:xfrm>
            <a:off x="7924800" y="1524000"/>
            <a:ext cx="3276600" cy="1257300"/>
          </a:xfrm>
          <a:prstGeom prst="roundRect">
            <a:avLst>
              <a:gd name="adj" fmla="val 9091"/>
            </a:avLst>
          </a:prstGeom>
          <a:solidFill>
            <a:srgbClr val="FFF5E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CE42B0-3F60-4786-9BF3-D69B24FE0BFE}"/>
              </a:ext>
            </a:extLst>
          </p:cNvPr>
          <p:cNvSpPr>
            <a:spLocks noGrp="1"/>
          </p:cNvSpPr>
          <p:nvPr/>
        </p:nvSpPr>
        <p:spPr>
          <a:xfrm>
            <a:off x="8096250" y="16573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Improved payment integrity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E02008-AC08-45A7-8880-F771B2F71BEA}"/>
              </a:ext>
            </a:extLst>
          </p:cNvPr>
          <p:cNvSpPr>
            <a:spLocks noGrp="1"/>
          </p:cNvSpPr>
          <p:nvPr/>
        </p:nvSpPr>
        <p:spPr>
          <a:xfrm>
            <a:off x="8096250" y="196215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More consistent interpretation of coverage and coding logic.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8144A0-91DD-469E-B09E-A8891BF5AB96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3276600" cy="1257300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14B0FD-F56F-470E-927E-671CDA3698BD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Lower operating cost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68D13E-1A1A-43DA-BDCC-E105BB9A4F25}"/>
              </a:ext>
            </a:extLst>
          </p:cNvPr>
          <p:cNvSpPr>
            <a:spLocks noGrp="1"/>
          </p:cNvSpPr>
          <p:nvPr/>
        </p:nvSpPr>
        <p:spPr>
          <a:xfrm>
            <a:off x="895350" y="358140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Better analyst leverage without adding workflow complexity.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50FE1F-490E-4619-97D8-5E2751E14684}"/>
              </a:ext>
            </a:extLst>
          </p:cNvPr>
          <p:cNvSpPr>
            <a:spLocks noGrp="1"/>
          </p:cNvSpPr>
          <p:nvPr/>
        </p:nvSpPr>
        <p:spPr>
          <a:xfrm>
            <a:off x="4324350" y="3143250"/>
            <a:ext cx="3276600" cy="1257300"/>
          </a:xfrm>
          <a:prstGeom prst="roundRect">
            <a:avLst>
              <a:gd name="adj" fmla="val 9091"/>
            </a:avLst>
          </a:prstGeom>
          <a:solidFill>
            <a:srgbClr val="F4F0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B8CD3B-FE34-442E-8701-E97D31E74085}"/>
              </a:ext>
            </a:extLst>
          </p:cNvPr>
          <p:cNvSpPr>
            <a:spLocks noGrp="1"/>
          </p:cNvSpPr>
          <p:nvPr/>
        </p:nvSpPr>
        <p:spPr>
          <a:xfrm>
            <a:off x="4495800" y="327660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Explainable recommendations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662751-7CED-41D7-94E8-126B43F5FB37}"/>
              </a:ext>
            </a:extLst>
          </p:cNvPr>
          <p:cNvSpPr>
            <a:spLocks noGrp="1"/>
          </p:cNvSpPr>
          <p:nvPr/>
        </p:nvSpPr>
        <p:spPr>
          <a:xfrm>
            <a:off x="4495800" y="358140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Human reviewers can see why a recommendation was made.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C56ECE-9EC2-48C4-8BC4-84985E1E2496}"/>
              </a:ext>
            </a:extLst>
          </p:cNvPr>
          <p:cNvSpPr>
            <a:spLocks noGrp="1"/>
          </p:cNvSpPr>
          <p:nvPr/>
        </p:nvSpPr>
        <p:spPr>
          <a:xfrm>
            <a:off x="7924800" y="3143250"/>
            <a:ext cx="32766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A784A6-02C0-432C-A173-F791DED3CF78}"/>
              </a:ext>
            </a:extLst>
          </p:cNvPr>
          <p:cNvSpPr>
            <a:spLocks noGrp="1"/>
          </p:cNvSpPr>
          <p:nvPr/>
        </p:nvSpPr>
        <p:spPr>
          <a:xfrm>
            <a:off x="8096250" y="327660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Reusable intelligence layer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DB4D64-8726-483F-AE02-994C6AB74315}"/>
              </a:ext>
            </a:extLst>
          </p:cNvPr>
          <p:cNvSpPr>
            <a:spLocks noGrp="1"/>
          </p:cNvSpPr>
          <p:nvPr/>
        </p:nvSpPr>
        <p:spPr>
          <a:xfrm>
            <a:off x="8096250" y="3581400"/>
            <a:ext cx="2933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1F2937"/>
                </a:solidFill>
              </a:defRPr>
            </a:pPr>
            <a:r>
              <a:rPr sz="1200" b="0" i="0">
                <a:solidFill>
                  <a:srgbClr val="1F2937"/>
                </a:solidFill>
              </a:rPr>
              <a:t>Policies become a searchable, structured knowledge asset.</a:t>
            </a:r>
          </a:p>
        </p:txBody>
      </p:sp>
    </p:spTree>
    <p:extLst>
      <p:ext uri="{BB962C8B-B14F-4D97-AF65-F5344CB8AC3E}">
        <p14:creationId xmlns:p14="http://schemas.microsoft.com/office/powerpoint/2010/main" val="1208149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35346A4-3FC0-4F1D-A1E9-2E2FFDF2A413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Overall 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B02F35-0B45-4039-94B0-7D65468D82B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End-to-end flow from healthcare documents to explainable decision support.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B61A4F-48F6-4286-A1C6-129D64AD69DB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9F10F3-533E-4C1C-A804-D005A0DB9C28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D40B9B-D573-4BDF-BF79-A34E2CB45F88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7A1A5C-3E54-40EA-9B1E-1A5D5101BA2D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0">
            <a:solidFill>
              <a:srgbClr val="EAF2FD"/>
            </a:solidFill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74EA6"/>
                </a:solidFill>
              </a:defRPr>
            </a:pPr>
            <a:r>
              <a:rPr sz="1050" b="1" i="0">
                <a:solidFill>
                  <a:srgbClr val="174EA6"/>
                </a:solidFill>
              </a:rPr>
              <a:t>Input layer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C95A69-F6CF-43EC-892B-3F769DF2C01E}"/>
              </a:ext>
            </a:extLst>
          </p:cNvPr>
          <p:cNvSpPr>
            <a:spLocks noGrp="1"/>
          </p:cNvSpPr>
          <p:nvPr/>
        </p:nvSpPr>
        <p:spPr>
          <a:xfrm>
            <a:off x="2857500" y="1390650"/>
            <a:ext cx="1714500" cy="266700"/>
          </a:xfrm>
          <a:prstGeom prst="roundRect">
            <a:avLst>
              <a:gd name="adj" fmla="val 50000"/>
            </a:avLst>
          </a:prstGeom>
          <a:solidFill>
            <a:srgbClr val="EEF8F6"/>
          </a:solidFill>
          <a:ln w="0">
            <a:solidFill>
              <a:srgbClr val="EEF8F6"/>
            </a:solidFill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F9D74"/>
                </a:solidFill>
              </a:defRPr>
            </a:pPr>
            <a:r>
              <a:rPr sz="1050" b="1" i="0">
                <a:solidFill>
                  <a:srgbClr val="1F9D74"/>
                </a:solidFill>
              </a:rPr>
              <a:t>Ingestion layer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0F6770-6FC9-4CF1-ACB5-80322D6FC98B}"/>
              </a:ext>
            </a:extLst>
          </p:cNvPr>
          <p:cNvSpPr>
            <a:spLocks noGrp="1"/>
          </p:cNvSpPr>
          <p:nvPr/>
        </p:nvSpPr>
        <p:spPr>
          <a:xfrm>
            <a:off x="5162550" y="1390650"/>
            <a:ext cx="2000250" cy="266700"/>
          </a:xfrm>
          <a:prstGeom prst="roundRect">
            <a:avLst>
              <a:gd name="adj" fmla="val 50000"/>
            </a:avLst>
          </a:prstGeom>
          <a:solidFill>
            <a:srgbClr val="FFF5E8"/>
          </a:solidFill>
          <a:ln w="0">
            <a:solidFill>
              <a:srgbClr val="FFF5E8"/>
            </a:solidFill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97316"/>
                </a:solidFill>
              </a:defRPr>
            </a:pPr>
            <a:r>
              <a:rPr sz="1050" b="1" i="0">
                <a:solidFill>
                  <a:srgbClr val="F97316"/>
                </a:solidFill>
              </a:rPr>
              <a:t>Knowledge layer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DA2955-7ED2-45FD-A59E-117AA4C10427}"/>
              </a:ext>
            </a:extLst>
          </p:cNvPr>
          <p:cNvSpPr>
            <a:spLocks noGrp="1"/>
          </p:cNvSpPr>
          <p:nvPr/>
        </p:nvSpPr>
        <p:spPr>
          <a:xfrm>
            <a:off x="7848600" y="1390650"/>
            <a:ext cx="1714500" cy="266700"/>
          </a:xfrm>
          <a:prstGeom prst="roundRect">
            <a:avLst>
              <a:gd name="adj" fmla="val 50000"/>
            </a:avLst>
          </a:prstGeom>
          <a:solidFill>
            <a:srgbClr val="F4F0FF"/>
          </a:solidFill>
          <a:ln w="0">
            <a:solidFill>
              <a:srgbClr val="F4F0FF"/>
            </a:solidFill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7C3AED"/>
                </a:solidFill>
              </a:defRPr>
            </a:pPr>
            <a:r>
              <a:rPr sz="1050" b="1" i="0">
                <a:solidFill>
                  <a:srgbClr val="7C3AED"/>
                </a:solidFill>
              </a:rPr>
              <a:t>Decision layer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373594-40B7-4593-B7D0-11855C5D50FE}"/>
              </a:ext>
            </a:extLst>
          </p:cNvPr>
          <p:cNvSpPr>
            <a:spLocks noGrp="1"/>
          </p:cNvSpPr>
          <p:nvPr/>
        </p:nvSpPr>
        <p:spPr>
          <a:xfrm>
            <a:off x="10096500" y="1390650"/>
            <a:ext cx="1238250" cy="266700"/>
          </a:xfrm>
          <a:prstGeom prst="roundRect">
            <a:avLst>
              <a:gd name="adj" fmla="val 50000"/>
            </a:avLst>
          </a:prstGeom>
          <a:solidFill>
            <a:srgbClr val="FFF6F5"/>
          </a:solidFill>
          <a:ln w="0">
            <a:solidFill>
              <a:srgbClr val="FFF6F5"/>
            </a:solidFill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D92D20"/>
                </a:solidFill>
              </a:defRPr>
            </a:pPr>
            <a:r>
              <a:rPr sz="1050" b="1" i="0">
                <a:solidFill>
                  <a:srgbClr val="D92D20"/>
                </a:solidFill>
              </a:rPr>
              <a:t>Trust layer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987DE7-8A50-4C01-8E19-CAFD3B2B2F5B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Healthcare Documents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AD6D4-22AD-4D7A-9CB8-FD1598653E6A}"/>
              </a:ext>
            </a:extLst>
          </p:cNvPr>
          <p:cNvSpPr>
            <a:spLocks noGrp="1"/>
          </p:cNvSpPr>
          <p:nvPr/>
        </p:nvSpPr>
        <p:spPr>
          <a:xfrm>
            <a:off x="2085975" y="2247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2A3E27-DF38-4977-9EC2-93C61E7213A9}"/>
              </a:ext>
            </a:extLst>
          </p:cNvPr>
          <p:cNvSpPr>
            <a:spLocks noGrp="1"/>
          </p:cNvSpPr>
          <p:nvPr/>
        </p:nvSpPr>
        <p:spPr>
          <a:xfrm>
            <a:off x="2276475" y="209550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PDF Loader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45A96-ED8B-4562-B23E-AE72412AF7C1}"/>
              </a:ext>
            </a:extLst>
          </p:cNvPr>
          <p:cNvSpPr>
            <a:spLocks noGrp="1"/>
          </p:cNvSpPr>
          <p:nvPr/>
        </p:nvSpPr>
        <p:spPr>
          <a:xfrm>
            <a:off x="3657600" y="2247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942BAAE-48B3-4B2D-8ADB-2BD06A352A0C}"/>
              </a:ext>
            </a:extLst>
          </p:cNvPr>
          <p:cNvSpPr>
            <a:spLocks noGrp="1"/>
          </p:cNvSpPr>
          <p:nvPr/>
        </p:nvSpPr>
        <p:spPr>
          <a:xfrm>
            <a:off x="3848100" y="209550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Document Classifier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7A923C-5DB7-4647-A583-9A2E221FAADD}"/>
              </a:ext>
            </a:extLst>
          </p:cNvPr>
          <p:cNvSpPr>
            <a:spLocks noGrp="1"/>
          </p:cNvSpPr>
          <p:nvPr/>
        </p:nvSpPr>
        <p:spPr>
          <a:xfrm>
            <a:off x="5229225" y="2247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5406F4-D006-46B2-847B-3A953130944B}"/>
              </a:ext>
            </a:extLst>
          </p:cNvPr>
          <p:cNvSpPr>
            <a:spLocks noGrp="1"/>
          </p:cNvSpPr>
          <p:nvPr/>
        </p:nvSpPr>
        <p:spPr>
          <a:xfrm>
            <a:off x="5419725" y="209550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Summarizer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BE1CAC-4E33-4723-8813-8A9E0020143A}"/>
              </a:ext>
            </a:extLst>
          </p:cNvPr>
          <p:cNvSpPr>
            <a:spLocks noGrp="1"/>
          </p:cNvSpPr>
          <p:nvPr/>
        </p:nvSpPr>
        <p:spPr>
          <a:xfrm>
            <a:off x="6800850" y="2247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592B97-D99C-4FDD-B520-8CE816549E07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Version Comparison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72B594-81AD-4235-8757-953D989BB2B9}"/>
              </a:ext>
            </a:extLst>
          </p:cNvPr>
          <p:cNvSpPr>
            <a:spLocks noGrp="1"/>
          </p:cNvSpPr>
          <p:nvPr/>
        </p:nvSpPr>
        <p:spPr>
          <a:xfrm>
            <a:off x="8372475" y="2247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831A04-C4DB-4D64-9481-91D14E642094}"/>
              </a:ext>
            </a:extLst>
          </p:cNvPr>
          <p:cNvSpPr>
            <a:spLocks noGrp="1"/>
          </p:cNvSpPr>
          <p:nvPr/>
        </p:nvSpPr>
        <p:spPr>
          <a:xfrm>
            <a:off x="8562975" y="209550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Embeddings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07A060-2382-47BC-A2B0-69B4F7D83412}"/>
              </a:ext>
            </a:extLst>
          </p:cNvPr>
          <p:cNvSpPr>
            <a:spLocks noGrp="1"/>
          </p:cNvSpPr>
          <p:nvPr/>
        </p:nvSpPr>
        <p:spPr>
          <a:xfrm>
            <a:off x="9944100" y="2247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2C2063A-170D-4142-A1A4-4F98FFD59756}"/>
              </a:ext>
            </a:extLst>
          </p:cNvPr>
          <p:cNvSpPr>
            <a:spLocks noGrp="1"/>
          </p:cNvSpPr>
          <p:nvPr/>
        </p:nvSpPr>
        <p:spPr>
          <a:xfrm>
            <a:off x="10134600" y="209550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FAISS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BE6DA7A-9E7F-457A-9D0B-549F909862D4}"/>
              </a:ext>
            </a:extLst>
          </p:cNvPr>
          <p:cNvSpPr>
            <a:spLocks noGrp="1"/>
          </p:cNvSpPr>
          <p:nvPr/>
        </p:nvSpPr>
        <p:spPr>
          <a:xfrm>
            <a:off x="64770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RAG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E627E1-F5A4-4E46-9A06-A12A4B9A3DC4}"/>
              </a:ext>
            </a:extLst>
          </p:cNvPr>
          <p:cNvSpPr>
            <a:spLocks noGrp="1"/>
          </p:cNvSpPr>
          <p:nvPr/>
        </p:nvSpPr>
        <p:spPr>
          <a:xfrm>
            <a:off x="1943100" y="3733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E78519D-D704-4A8E-8955-150267B1F931}"/>
              </a:ext>
            </a:extLst>
          </p:cNvPr>
          <p:cNvSpPr>
            <a:spLocks noGrp="1"/>
          </p:cNvSpPr>
          <p:nvPr/>
        </p:nvSpPr>
        <p:spPr>
          <a:xfrm>
            <a:off x="203835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Rule Extraction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1239BA-48CA-4B1F-BFD5-1F00D9009686}"/>
              </a:ext>
            </a:extLst>
          </p:cNvPr>
          <p:cNvSpPr>
            <a:spLocks noGrp="1"/>
          </p:cNvSpPr>
          <p:nvPr/>
        </p:nvSpPr>
        <p:spPr>
          <a:xfrm>
            <a:off x="3333750" y="3733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9D0B70-3B07-4A0A-B657-BA9932F7D27D}"/>
              </a:ext>
            </a:extLst>
          </p:cNvPr>
          <p:cNvSpPr>
            <a:spLocks noGrp="1"/>
          </p:cNvSpPr>
          <p:nvPr/>
        </p:nvSpPr>
        <p:spPr>
          <a:xfrm>
            <a:off x="342900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Feature Extraction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7AB7DB-45A7-40BE-AF2E-7792FC8BE3DA}"/>
              </a:ext>
            </a:extLst>
          </p:cNvPr>
          <p:cNvSpPr>
            <a:spLocks noGrp="1"/>
          </p:cNvSpPr>
          <p:nvPr/>
        </p:nvSpPr>
        <p:spPr>
          <a:xfrm>
            <a:off x="4724400" y="3733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BA5E178-564C-411C-8797-A42A8BCC0231}"/>
              </a:ext>
            </a:extLst>
          </p:cNvPr>
          <p:cNvSpPr>
            <a:spLocks noGrp="1"/>
          </p:cNvSpPr>
          <p:nvPr/>
        </p:nvSpPr>
        <p:spPr>
          <a:xfrm>
            <a:off x="481965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Rule Engine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35D6B9-D92E-444C-ABD5-7E20DCC05150}"/>
              </a:ext>
            </a:extLst>
          </p:cNvPr>
          <p:cNvSpPr>
            <a:spLocks noGrp="1"/>
          </p:cNvSpPr>
          <p:nvPr/>
        </p:nvSpPr>
        <p:spPr>
          <a:xfrm>
            <a:off x="6115050" y="3733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6ABCCC1-A27E-4670-AF7C-C5C4E6B8E24B}"/>
              </a:ext>
            </a:extLst>
          </p:cNvPr>
          <p:cNvSpPr>
            <a:spLocks noGrp="1"/>
          </p:cNvSpPr>
          <p:nvPr/>
        </p:nvSpPr>
        <p:spPr>
          <a:xfrm>
            <a:off x="621030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ML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2F8083-E999-428E-93E9-86D1DF68083C}"/>
              </a:ext>
            </a:extLst>
          </p:cNvPr>
          <p:cNvSpPr>
            <a:spLocks noGrp="1"/>
          </p:cNvSpPr>
          <p:nvPr/>
        </p:nvSpPr>
        <p:spPr>
          <a:xfrm>
            <a:off x="7505700" y="3733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0570DA-B8A3-47FB-855C-A474C282F6C8}"/>
              </a:ext>
            </a:extLst>
          </p:cNvPr>
          <p:cNvSpPr>
            <a:spLocks noGrp="1"/>
          </p:cNvSpPr>
          <p:nvPr/>
        </p:nvSpPr>
        <p:spPr>
          <a:xfrm>
            <a:off x="760095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4F0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Claim Decision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E7EE90-175D-4B81-9AE6-F88DB367C722}"/>
              </a:ext>
            </a:extLst>
          </p:cNvPr>
          <p:cNvSpPr>
            <a:spLocks noGrp="1"/>
          </p:cNvSpPr>
          <p:nvPr/>
        </p:nvSpPr>
        <p:spPr>
          <a:xfrm>
            <a:off x="8896350" y="3733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6D501C5-01A6-4B9A-A47F-7F11E6AB32FF}"/>
              </a:ext>
            </a:extLst>
          </p:cNvPr>
          <p:cNvSpPr>
            <a:spLocks noGrp="1"/>
          </p:cNvSpPr>
          <p:nvPr/>
        </p:nvSpPr>
        <p:spPr>
          <a:xfrm>
            <a:off x="899160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4F0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Explainability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B5C560-C243-4DDD-B9F1-CC760BDBF17D}"/>
              </a:ext>
            </a:extLst>
          </p:cNvPr>
          <p:cNvSpPr>
            <a:spLocks noGrp="1"/>
          </p:cNvSpPr>
          <p:nvPr/>
        </p:nvSpPr>
        <p:spPr>
          <a:xfrm>
            <a:off x="10287000" y="3733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CDB86A8-6CFF-493D-A214-0F98994F1339}"/>
              </a:ext>
            </a:extLst>
          </p:cNvPr>
          <p:cNvSpPr>
            <a:spLocks noGrp="1"/>
          </p:cNvSpPr>
          <p:nvPr/>
        </p:nvSpPr>
        <p:spPr>
          <a:xfrm>
            <a:off x="10382250" y="35814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F4F0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Evaluation Dashboard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9BC6E1-225B-47A4-892B-33A50711C531}"/>
              </a:ext>
            </a:extLst>
          </p:cNvPr>
          <p:cNvSpPr>
            <a:spLocks noGrp="1"/>
          </p:cNvSpPr>
          <p:nvPr/>
        </p:nvSpPr>
        <p:spPr>
          <a:xfrm>
            <a:off x="10687050" y="28575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864A4C3-77DC-4AB6-BDC5-1D2D528083EB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0648950" cy="990600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18AC0A-EC77-455B-B4D3-BE4ECE80295C}"/>
              </a:ext>
            </a:extLst>
          </p:cNvPr>
          <p:cNvSpPr>
            <a:spLocks noGrp="1"/>
          </p:cNvSpPr>
          <p:nvPr/>
        </p:nvSpPr>
        <p:spPr>
          <a:xfrm>
            <a:off x="876300" y="489585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Architecture principle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564EDA-29DA-4188-9AE8-F4F59F2C5163}"/>
              </a:ext>
            </a:extLst>
          </p:cNvPr>
          <p:cNvSpPr>
            <a:spLocks noGrp="1"/>
          </p:cNvSpPr>
          <p:nvPr/>
        </p:nvSpPr>
        <p:spPr>
          <a:xfrm>
            <a:off x="876300" y="5200650"/>
            <a:ext cx="10306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F2937"/>
                </a:solidFill>
              </a:defRPr>
            </a:pPr>
            <a:r>
              <a:rPr sz="1275" b="0" i="0">
                <a:solidFill>
                  <a:srgbClr val="1F2937"/>
                </a:solidFill>
              </a:rPr>
              <a:t>The platform converts unstructured healthcare documents into grounded answers, reusable rules, structured features, and explainable recommendations. The design intentionally keeps humans in the loop for high-stakes interpretation and decision review.</a:t>
            </a:r>
          </a:p>
        </p:txBody>
      </p:sp>
    </p:spTree>
    <p:extLst>
      <p:ext uri="{BB962C8B-B14F-4D97-AF65-F5344CB8AC3E}">
        <p14:creationId xmlns:p14="http://schemas.microsoft.com/office/powerpoint/2010/main" val="106834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030BFA5-59A2-478D-9575-334C92361AE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B4F8D-D57B-475D-91C1-A7A5CD95E27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Grouped by business purpose rather than listed as a flat tool inventory.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F7FF4F-5D6E-4C9E-AF45-321E3BE2C481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4B5793-1E48-48D7-A09D-2BBFAD849341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AC8F86-CD63-407C-8190-E3B8C88643BB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940070-2DF0-48AE-82D5-FA58E64D69C4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3219450" cy="1562100"/>
          </a:xfrm>
          <a:prstGeom prst="roundRect">
            <a:avLst>
              <a:gd name="adj" fmla="val 7317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3AB74-DF01-4178-BC0D-CC07123C9148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Programming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F30287-3140-4DC0-B16B-5350F52E21EE}"/>
              </a:ext>
            </a:extLst>
          </p:cNvPr>
          <p:cNvSpPr>
            <a:spLocks noGrp="1"/>
          </p:cNvSpPr>
          <p:nvPr/>
        </p:nvSpPr>
        <p:spPr>
          <a:xfrm>
            <a:off x="952500" y="1962150"/>
            <a:ext cx="2876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Python 3.11+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Modular OOP structure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Typed production-style modules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7CACA2-4CE2-41B8-849C-FFE3FD7DC4B5}"/>
              </a:ext>
            </a:extLst>
          </p:cNvPr>
          <p:cNvSpPr>
            <a:spLocks noGrp="1"/>
          </p:cNvSpPr>
          <p:nvPr/>
        </p:nvSpPr>
        <p:spPr>
          <a:xfrm>
            <a:off x="4362450" y="1524000"/>
            <a:ext cx="3219450" cy="1562100"/>
          </a:xfrm>
          <a:prstGeom prst="roundRect">
            <a:avLst>
              <a:gd name="adj" fmla="val 7317"/>
            </a:avLst>
          </a:prstGeom>
          <a:solidFill>
            <a:srgbClr val="EEF8F6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EA6A18-71F4-4ED0-B810-EB1046B6D7AA}"/>
              </a:ext>
            </a:extLst>
          </p:cNvPr>
          <p:cNvSpPr>
            <a:spLocks noGrp="1"/>
          </p:cNvSpPr>
          <p:nvPr/>
        </p:nvSpPr>
        <p:spPr>
          <a:xfrm>
            <a:off x="4533900" y="165735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AI &amp; LLM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DA12B2-CB87-494A-9BB2-E7BA65368CCF}"/>
              </a:ext>
            </a:extLst>
          </p:cNvPr>
          <p:cNvSpPr>
            <a:spLocks noGrp="1"/>
          </p:cNvSpPr>
          <p:nvPr/>
        </p:nvSpPr>
        <p:spPr>
          <a:xfrm>
            <a:off x="4533900" y="1962150"/>
            <a:ext cx="2876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Groq / GPT-compatible summarization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Prompt-managed extraction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Policy Q&amp;A patterns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888D92-CCD8-459D-9FB0-7B8E42F4D77D}"/>
              </a:ext>
            </a:extLst>
          </p:cNvPr>
          <p:cNvSpPr>
            <a:spLocks noGrp="1"/>
          </p:cNvSpPr>
          <p:nvPr/>
        </p:nvSpPr>
        <p:spPr>
          <a:xfrm>
            <a:off x="7943850" y="1524000"/>
            <a:ext cx="3219450" cy="1562100"/>
          </a:xfrm>
          <a:prstGeom prst="roundRect">
            <a:avLst>
              <a:gd name="adj" fmla="val 7317"/>
            </a:avLst>
          </a:prstGeom>
          <a:solidFill>
            <a:srgbClr val="FFF5E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83F2B9-0436-4E00-B35F-57D35DAA39AD}"/>
              </a:ext>
            </a:extLst>
          </p:cNvPr>
          <p:cNvSpPr>
            <a:spLocks noGrp="1"/>
          </p:cNvSpPr>
          <p:nvPr/>
        </p:nvSpPr>
        <p:spPr>
          <a:xfrm>
            <a:off x="8115300" y="165735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Retrieval &amp; NLP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10E7F2-1C59-4210-9FFC-E7FB2EEA921B}"/>
              </a:ext>
            </a:extLst>
          </p:cNvPr>
          <p:cNvSpPr>
            <a:spLocks noGrp="1"/>
          </p:cNvSpPr>
          <p:nvPr/>
        </p:nvSpPr>
        <p:spPr>
          <a:xfrm>
            <a:off x="8115300" y="1962150"/>
            <a:ext cx="2876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LangChain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sentence-transformers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RAG orchestration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BB2387-BE0C-4DE8-B029-877C8EBB3E8E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3219450" cy="1562100"/>
          </a:xfrm>
          <a:prstGeom prst="roundRect">
            <a:avLst>
              <a:gd name="adj" fmla="val 7317"/>
            </a:avLst>
          </a:prstGeom>
          <a:solidFill>
            <a:srgbClr val="F4F0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D486-2DE3-42FE-B1CA-83ECEDAC9E4A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ML &amp; 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4931C7-55CC-42AD-ADEA-540F17A77113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2876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Scikit-learn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Pandas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NumPy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CF8109-D0C4-4D62-8312-4BB7F97B93E3}"/>
              </a:ext>
            </a:extLst>
          </p:cNvPr>
          <p:cNvSpPr>
            <a:spLocks noGrp="1"/>
          </p:cNvSpPr>
          <p:nvPr/>
        </p:nvSpPr>
        <p:spPr>
          <a:xfrm>
            <a:off x="4362450" y="3486150"/>
            <a:ext cx="321945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9DA602-D5E2-414D-B68E-6C36A2C2F0E9}"/>
              </a:ext>
            </a:extLst>
          </p:cNvPr>
          <p:cNvSpPr>
            <a:spLocks noGrp="1"/>
          </p:cNvSpPr>
          <p:nvPr/>
        </p:nvSpPr>
        <p:spPr>
          <a:xfrm>
            <a:off x="4533900" y="361950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Application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843111-F851-4C72-BAA0-FD032F5C5C4F}"/>
              </a:ext>
            </a:extLst>
          </p:cNvPr>
          <p:cNvSpPr>
            <a:spLocks noGrp="1"/>
          </p:cNvSpPr>
          <p:nvPr/>
        </p:nvSpPr>
        <p:spPr>
          <a:xfrm>
            <a:off x="4533900" y="3924300"/>
            <a:ext cx="2876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Streamlit multipage UI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Session state workflow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Downloadable outputs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D2DBBFC-9265-469B-8EAA-FB87494A364D}"/>
              </a:ext>
            </a:extLst>
          </p:cNvPr>
          <p:cNvSpPr>
            <a:spLocks noGrp="1"/>
          </p:cNvSpPr>
          <p:nvPr/>
        </p:nvSpPr>
        <p:spPr>
          <a:xfrm>
            <a:off x="7943850" y="3486150"/>
            <a:ext cx="3219450" cy="1562100"/>
          </a:xfrm>
          <a:prstGeom prst="roundRect">
            <a:avLst>
              <a:gd name="adj" fmla="val 7317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628C44-9B1C-417E-8C6B-2C5FC0BB1B93}"/>
              </a:ext>
            </a:extLst>
          </p:cNvPr>
          <p:cNvSpPr>
            <a:spLocks noGrp="1"/>
          </p:cNvSpPr>
          <p:nvPr/>
        </p:nvSpPr>
        <p:spPr>
          <a:xfrm>
            <a:off x="8115300" y="3619500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Storage &amp; Parsing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B84C1E-5EC9-4317-9F2C-3A9EC0F2A2C7}"/>
              </a:ext>
            </a:extLst>
          </p:cNvPr>
          <p:cNvSpPr>
            <a:spLocks noGrp="1"/>
          </p:cNvSpPr>
          <p:nvPr/>
        </p:nvSpPr>
        <p:spPr>
          <a:xfrm>
            <a:off x="8115300" y="3924300"/>
            <a:ext cx="2876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PyMuPDF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FAISS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JSON / local artifacts</a:t>
            </a:r>
          </a:p>
        </p:txBody>
      </p:sp>
    </p:spTree>
    <p:extLst>
      <p:ext uri="{BB962C8B-B14F-4D97-AF65-F5344CB8AC3E}">
        <p14:creationId xmlns:p14="http://schemas.microsoft.com/office/powerpoint/2010/main" val="79087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5AF5E9B-B240-40D1-BD39-EC54CFBB163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Proof of Concept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510929-4639-4759-89B7-7E5559F45B99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Simple end-to-end demonstrator showing the main functions of the platform.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41107F-34C5-40A3-8216-DDC40838A27E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AE7136-4673-4C69-BE8E-01892BEE93BB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3DC16A-C97C-4ABF-A725-21637B6E2FD3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F35F2C-A73C-48C2-A9C2-66C4BD7B13CE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Upload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3582C4-7A30-4CB5-A9BB-D2A43C862BBF}"/>
              </a:ext>
            </a:extLst>
          </p:cNvPr>
          <p:cNvSpPr>
            <a:spLocks noGrp="1"/>
          </p:cNvSpPr>
          <p:nvPr/>
        </p:nvSpPr>
        <p:spPr>
          <a:xfrm>
            <a:off x="2190750" y="2209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DAD2D2-C43A-41F1-A30C-3468F95FDCA2}"/>
              </a:ext>
            </a:extLst>
          </p:cNvPr>
          <p:cNvSpPr>
            <a:spLocks noGrp="1"/>
          </p:cNvSpPr>
          <p:nvPr/>
        </p:nvSpPr>
        <p:spPr>
          <a:xfrm>
            <a:off x="2466975" y="203835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Classify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A1515B-A5F8-45F5-8453-CCE51F4C5457}"/>
              </a:ext>
            </a:extLst>
          </p:cNvPr>
          <p:cNvSpPr>
            <a:spLocks noGrp="1"/>
          </p:cNvSpPr>
          <p:nvPr/>
        </p:nvSpPr>
        <p:spPr>
          <a:xfrm>
            <a:off x="3952875" y="2209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ADCBAF-1EE0-43CF-9581-7C256D5ADA1B}"/>
              </a:ext>
            </a:extLst>
          </p:cNvPr>
          <p:cNvSpPr>
            <a:spLocks noGrp="1"/>
          </p:cNvSpPr>
          <p:nvPr/>
        </p:nvSpPr>
        <p:spPr>
          <a:xfrm>
            <a:off x="4229100" y="203835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Summarize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3062D-9524-45BC-84A6-B06ADF9A510D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A4ED90-B83D-4196-BFFB-A49B26958C5C}"/>
              </a:ext>
            </a:extLst>
          </p:cNvPr>
          <p:cNvSpPr>
            <a:spLocks noGrp="1"/>
          </p:cNvSpPr>
          <p:nvPr/>
        </p:nvSpPr>
        <p:spPr>
          <a:xfrm>
            <a:off x="5991225" y="203835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Compare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F35860-DCB7-4C95-BACD-3F891C88D7BC}"/>
              </a:ext>
            </a:extLst>
          </p:cNvPr>
          <p:cNvSpPr>
            <a:spLocks noGrp="1"/>
          </p:cNvSpPr>
          <p:nvPr/>
        </p:nvSpPr>
        <p:spPr>
          <a:xfrm>
            <a:off x="7477125" y="2209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59A085-C23B-4280-921D-677FB04C0403}"/>
              </a:ext>
            </a:extLst>
          </p:cNvPr>
          <p:cNvSpPr>
            <a:spLocks noGrp="1"/>
          </p:cNvSpPr>
          <p:nvPr/>
        </p:nvSpPr>
        <p:spPr>
          <a:xfrm>
            <a:off x="7753350" y="203835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Chat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88CC92-C48A-4555-86EB-BA8BF67A3C4E}"/>
              </a:ext>
            </a:extLst>
          </p:cNvPr>
          <p:cNvSpPr>
            <a:spLocks noGrp="1"/>
          </p:cNvSpPr>
          <p:nvPr/>
        </p:nvSpPr>
        <p:spPr>
          <a:xfrm>
            <a:off x="9239250" y="2209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28314F2-2789-4A30-8C9C-D2DEE942EC5F}"/>
              </a:ext>
            </a:extLst>
          </p:cNvPr>
          <p:cNvSpPr>
            <a:spLocks noGrp="1"/>
          </p:cNvSpPr>
          <p:nvPr/>
        </p:nvSpPr>
        <p:spPr>
          <a:xfrm>
            <a:off x="9515475" y="203835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Extract Rules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B086A8-24F8-4E81-8729-DB06BB986AA9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Extract Features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AEF037-D262-4EF5-97CB-B83370F44F9A}"/>
              </a:ext>
            </a:extLst>
          </p:cNvPr>
          <p:cNvSpPr>
            <a:spLocks noGrp="1"/>
          </p:cNvSpPr>
          <p:nvPr/>
        </p:nvSpPr>
        <p:spPr>
          <a:xfrm>
            <a:off x="2190750" y="4057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EF6170-C8A0-44AF-9227-42313B90242D}"/>
              </a:ext>
            </a:extLst>
          </p:cNvPr>
          <p:cNvSpPr>
            <a:spLocks noGrp="1"/>
          </p:cNvSpPr>
          <p:nvPr/>
        </p:nvSpPr>
        <p:spPr>
          <a:xfrm>
            <a:off x="2466975" y="388620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Rule Engine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B720FA-B5CC-40A0-9DA0-088C8C820298}"/>
              </a:ext>
            </a:extLst>
          </p:cNvPr>
          <p:cNvSpPr>
            <a:spLocks noGrp="1"/>
          </p:cNvSpPr>
          <p:nvPr/>
        </p:nvSpPr>
        <p:spPr>
          <a:xfrm>
            <a:off x="3952875" y="4057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97652BE-E523-4B68-922F-748959418C89}"/>
              </a:ext>
            </a:extLst>
          </p:cNvPr>
          <p:cNvSpPr>
            <a:spLocks noGrp="1"/>
          </p:cNvSpPr>
          <p:nvPr/>
        </p:nvSpPr>
        <p:spPr>
          <a:xfrm>
            <a:off x="4229100" y="388620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ML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7A25E1-2391-49D3-A520-52ACC35A1489}"/>
              </a:ext>
            </a:extLst>
          </p:cNvPr>
          <p:cNvSpPr>
            <a:spLocks noGrp="1"/>
          </p:cNvSpPr>
          <p:nvPr/>
        </p:nvSpPr>
        <p:spPr>
          <a:xfrm>
            <a:off x="5715000" y="4057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4B0A4D-2F78-41FB-958C-FC6EFE8A70CF}"/>
              </a:ext>
            </a:extLst>
          </p:cNvPr>
          <p:cNvSpPr>
            <a:spLocks noGrp="1"/>
          </p:cNvSpPr>
          <p:nvPr/>
        </p:nvSpPr>
        <p:spPr>
          <a:xfrm>
            <a:off x="5991225" y="388620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4E9EC9-4E57-42CE-A53B-91F924AEB632}"/>
              </a:ext>
            </a:extLst>
          </p:cNvPr>
          <p:cNvSpPr>
            <a:spLocks noGrp="1"/>
          </p:cNvSpPr>
          <p:nvPr/>
        </p:nvSpPr>
        <p:spPr>
          <a:xfrm>
            <a:off x="7477125" y="4057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60762B-59C9-428A-9702-C8ADB2D51DFB}"/>
              </a:ext>
            </a:extLst>
          </p:cNvPr>
          <p:cNvSpPr>
            <a:spLocks noGrp="1"/>
          </p:cNvSpPr>
          <p:nvPr/>
        </p:nvSpPr>
        <p:spPr>
          <a:xfrm>
            <a:off x="7753350" y="388620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Explanation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8AF1BF-892E-41E9-9164-BE24822AE1B8}"/>
              </a:ext>
            </a:extLst>
          </p:cNvPr>
          <p:cNvSpPr>
            <a:spLocks noGrp="1"/>
          </p:cNvSpPr>
          <p:nvPr/>
        </p:nvSpPr>
        <p:spPr>
          <a:xfrm>
            <a:off x="9239250" y="40576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32627EE-9750-4F56-8864-2BE72568E715}"/>
              </a:ext>
            </a:extLst>
          </p:cNvPr>
          <p:cNvSpPr>
            <a:spLocks noGrp="1"/>
          </p:cNvSpPr>
          <p:nvPr/>
        </p:nvSpPr>
        <p:spPr>
          <a:xfrm>
            <a:off x="9515475" y="3886200"/>
            <a:ext cx="1428750" cy="628650"/>
          </a:xfrm>
          <a:prstGeom prst="roundRect">
            <a:avLst>
              <a:gd name="adj" fmla="val 18182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Evaluation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E368C6-0A8E-4D46-A04A-5D1DC0F4D11D}"/>
              </a:ext>
            </a:extLst>
          </p:cNvPr>
          <p:cNvSpPr>
            <a:spLocks noGrp="1"/>
          </p:cNvSpPr>
          <p:nvPr/>
        </p:nvSpPr>
        <p:spPr>
          <a:xfrm>
            <a:off x="10801350" y="28765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↓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F61307-1C3A-4F1F-AE51-50C807224BEE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2D2C8A-D49C-4D8D-95CA-24B9C4AE1801}"/>
              </a:ext>
            </a:extLst>
          </p:cNvPr>
          <p:cNvSpPr>
            <a:spLocks noGrp="1"/>
          </p:cNvSpPr>
          <p:nvPr/>
        </p:nvSpPr>
        <p:spPr>
          <a:xfrm>
            <a:off x="704850" y="5448300"/>
            <a:ext cx="10629900" cy="495300"/>
          </a:xfrm>
          <a:prstGeom prst="roundRect">
            <a:avLst>
              <a:gd name="adj" fmla="val 23077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3B3422-F292-425C-B0DB-7975B055F1C4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F2937"/>
                </a:solidFill>
              </a:defRPr>
            </a:pPr>
            <a:r>
              <a:rPr sz="1275" b="0" i="0">
                <a:solidFill>
                  <a:srgbClr val="1F2937"/>
                </a:solidFill>
              </a:rPr>
              <a:t>Hackathon design principle: keep the workflow simple, visible, and demonstrable rather than over-optimizing for full production complexity.</a:t>
            </a:r>
          </a:p>
        </p:txBody>
      </p:sp>
    </p:spTree>
    <p:extLst>
      <p:ext uri="{BB962C8B-B14F-4D97-AF65-F5344CB8AC3E}">
        <p14:creationId xmlns:p14="http://schemas.microsoft.com/office/powerpoint/2010/main" val="141205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5DCC0E06-928A-4811-9E79-90B8CF0537A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Core AI Modules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9E3C7-9A1D-4E6B-A00F-C4793675A03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All fifteen modules are grouped into business-facing capabilities for the platform.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276E3-0B89-4641-83AA-96F6E84B0AC1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C54F58-8E02-4A15-9461-974974AB5E2C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247CE-9CC6-4A17-A343-9802839F428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1EE29-B2C2-4398-9851-63BCF7850374}"/>
              </a:ext>
            </a:extLst>
          </p:cNvPr>
          <p:cNvSpPr>
            <a:spLocks noGrp="1"/>
          </p:cNvSpPr>
          <p:nvPr/>
        </p:nvSpPr>
        <p:spPr>
          <a:xfrm>
            <a:off x="704850" y="1333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23B66"/>
                </a:solidFill>
              </a:defRPr>
            </a:pPr>
            <a:r>
              <a:rPr sz="1500" b="1" i="0">
                <a:solidFill>
                  <a:srgbClr val="123B66"/>
                </a:solidFill>
              </a:rPr>
              <a:t>Ingestion and intelligence modules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B947D3-41E0-4E04-B57C-7F4C99FB53C5}"/>
              </a:ext>
            </a:extLst>
          </p:cNvPr>
          <p:cNvSpPr>
            <a:spLocks noGrp="1"/>
          </p:cNvSpPr>
          <p:nvPr/>
        </p:nvSpPr>
        <p:spPr>
          <a:xfrm>
            <a:off x="6229350" y="1333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23B66"/>
                </a:solidFill>
              </a:defRPr>
            </a:pPr>
            <a:r>
              <a:rPr sz="1500" b="1" i="0">
                <a:solidFill>
                  <a:srgbClr val="123B66"/>
                </a:solidFill>
              </a:rPr>
              <a:t>Decision, trust, and platform modules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F61627-4EC3-4CF3-9BED-984F01E943F6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123950" cy="323850"/>
          </a:xfrm>
          <a:prstGeom prst="rect">
            <a:avLst/>
          </a:prstGeom>
          <a:solidFill>
            <a:srgbClr val="123B6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BA47B8-A220-436A-AC84-D8B9794CCB11}"/>
              </a:ext>
            </a:extLst>
          </p:cNvPr>
          <p:cNvSpPr>
            <a:spLocks noGrp="1"/>
          </p:cNvSpPr>
          <p:nvPr/>
        </p:nvSpPr>
        <p:spPr>
          <a:xfrm>
            <a:off x="1809750" y="1657350"/>
            <a:ext cx="1428750" cy="323850"/>
          </a:xfrm>
          <a:prstGeom prst="rect">
            <a:avLst/>
          </a:prstGeom>
          <a:solidFill>
            <a:srgbClr val="123B6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D0AA62-BAD4-4069-9ED7-3AD5202ED05A}"/>
              </a:ext>
            </a:extLst>
          </p:cNvPr>
          <p:cNvSpPr>
            <a:spLocks noGrp="1"/>
          </p:cNvSpPr>
          <p:nvPr/>
        </p:nvSpPr>
        <p:spPr>
          <a:xfrm>
            <a:off x="3238500" y="1657350"/>
            <a:ext cx="1143000" cy="323850"/>
          </a:xfrm>
          <a:prstGeom prst="rect">
            <a:avLst/>
          </a:prstGeom>
          <a:solidFill>
            <a:srgbClr val="123B6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50080E-4CA1-495B-A217-0012978612D9}"/>
              </a:ext>
            </a:extLst>
          </p:cNvPr>
          <p:cNvSpPr>
            <a:spLocks noGrp="1"/>
          </p:cNvSpPr>
          <p:nvPr/>
        </p:nvSpPr>
        <p:spPr>
          <a:xfrm>
            <a:off x="4381500" y="1657350"/>
            <a:ext cx="1447800" cy="323850"/>
          </a:xfrm>
          <a:prstGeom prst="rect">
            <a:avLst/>
          </a:prstGeom>
          <a:solidFill>
            <a:srgbClr val="123B6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Business Benefit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CB0BFF-C5BA-44EF-A309-48E034FA88BC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PDF Loader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45EE7-EC2E-4F9B-B41C-A333D83F4DB9}"/>
              </a:ext>
            </a:extLst>
          </p:cNvPr>
          <p:cNvSpPr>
            <a:spLocks noGrp="1"/>
          </p:cNvSpPr>
          <p:nvPr/>
        </p:nvSpPr>
        <p:spPr>
          <a:xfrm>
            <a:off x="1809750" y="19812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Parse policy pages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71FACC-9C71-4F94-9173-AD5D227C47F5}"/>
              </a:ext>
            </a:extLst>
          </p:cNvPr>
          <p:cNvSpPr>
            <a:spLocks noGrp="1"/>
          </p:cNvSpPr>
          <p:nvPr/>
        </p:nvSpPr>
        <p:spPr>
          <a:xfrm>
            <a:off x="3238500" y="19812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PyMuPDF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918BE-E397-428D-976E-029424F16275}"/>
              </a:ext>
            </a:extLst>
          </p:cNvPr>
          <p:cNvSpPr>
            <a:spLocks noGrp="1"/>
          </p:cNvSpPr>
          <p:nvPr/>
        </p:nvSpPr>
        <p:spPr>
          <a:xfrm>
            <a:off x="4381500" y="1981200"/>
            <a:ext cx="14478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Creates analyzable input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B15EF9-BCB1-48FA-9725-EA6E39AEB38D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1239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Document Classifier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45BBD4-3D9B-4BE2-AD25-5D5F10A83A0A}"/>
              </a:ext>
            </a:extLst>
          </p:cNvPr>
          <p:cNvSpPr>
            <a:spLocks noGrp="1"/>
          </p:cNvSpPr>
          <p:nvPr/>
        </p:nvSpPr>
        <p:spPr>
          <a:xfrm>
            <a:off x="1809750" y="2305050"/>
            <a:ext cx="14287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Identify document type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1B28F2-6ACA-4EBD-ACA4-032D227F5D0F}"/>
              </a:ext>
            </a:extLst>
          </p:cNvPr>
          <p:cNvSpPr>
            <a:spLocks noGrp="1"/>
          </p:cNvSpPr>
          <p:nvPr/>
        </p:nvSpPr>
        <p:spPr>
          <a:xfrm>
            <a:off x="3238500" y="2305050"/>
            <a:ext cx="11430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Rules + LLM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45756-DBDA-47AB-BAD9-D1D4F17981A7}"/>
              </a:ext>
            </a:extLst>
          </p:cNvPr>
          <p:cNvSpPr>
            <a:spLocks noGrp="1"/>
          </p:cNvSpPr>
          <p:nvPr/>
        </p:nvSpPr>
        <p:spPr>
          <a:xfrm>
            <a:off x="4381500" y="2305050"/>
            <a:ext cx="14478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Routes correct workflow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944867-9ECD-45B4-AB5A-4F71BAD4F822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Summarizer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29BECC-8CB1-4060-ABE8-CC1C9E294166}"/>
              </a:ext>
            </a:extLst>
          </p:cNvPr>
          <p:cNvSpPr>
            <a:spLocks noGrp="1"/>
          </p:cNvSpPr>
          <p:nvPr/>
        </p:nvSpPr>
        <p:spPr>
          <a:xfrm>
            <a:off x="1809750" y="26289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Create structured summary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20A10-9C7D-4E9C-9BF6-9855F369F329}"/>
              </a:ext>
            </a:extLst>
          </p:cNvPr>
          <p:cNvSpPr>
            <a:spLocks noGrp="1"/>
          </p:cNvSpPr>
          <p:nvPr/>
        </p:nvSpPr>
        <p:spPr>
          <a:xfrm>
            <a:off x="3238500" y="26289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LLM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9FC619-67ED-4A2F-9C16-DA54AD9DAB1B}"/>
              </a:ext>
            </a:extLst>
          </p:cNvPr>
          <p:cNvSpPr>
            <a:spLocks noGrp="1"/>
          </p:cNvSpPr>
          <p:nvPr/>
        </p:nvSpPr>
        <p:spPr>
          <a:xfrm>
            <a:off x="4381500" y="2628900"/>
            <a:ext cx="14478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Speeds analyst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B3688A-F8CE-4D19-9FE1-0D4806D067F0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1239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Version Comparison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086F1-A8E6-43E8-9E9D-F6B9DE28FD88}"/>
              </a:ext>
            </a:extLst>
          </p:cNvPr>
          <p:cNvSpPr>
            <a:spLocks noGrp="1"/>
          </p:cNvSpPr>
          <p:nvPr/>
        </p:nvSpPr>
        <p:spPr>
          <a:xfrm>
            <a:off x="1809750" y="2952750"/>
            <a:ext cx="14287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Compare old vs new policies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A51FF8-63ED-4330-B2E4-5605F9BB4AAF}"/>
              </a:ext>
            </a:extLst>
          </p:cNvPr>
          <p:cNvSpPr>
            <a:spLocks noGrp="1"/>
          </p:cNvSpPr>
          <p:nvPr/>
        </p:nvSpPr>
        <p:spPr>
          <a:xfrm>
            <a:off x="3238500" y="2952750"/>
            <a:ext cx="11430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Diff + LLM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004236-ECC9-4083-A105-641ECF17EB33}"/>
              </a:ext>
            </a:extLst>
          </p:cNvPr>
          <p:cNvSpPr>
            <a:spLocks noGrp="1"/>
          </p:cNvSpPr>
          <p:nvPr/>
        </p:nvSpPr>
        <p:spPr>
          <a:xfrm>
            <a:off x="4381500" y="2952750"/>
            <a:ext cx="14478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Highlights meaningful change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4E6258-332C-4401-BB8E-F51773468C00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Embeddings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8ED45B-0D38-46C0-A684-478E899E89E9}"/>
              </a:ext>
            </a:extLst>
          </p:cNvPr>
          <p:cNvSpPr>
            <a:spLocks noGrp="1"/>
          </p:cNvSpPr>
          <p:nvPr/>
        </p:nvSpPr>
        <p:spPr>
          <a:xfrm>
            <a:off x="1809750" y="32766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Vectorize text chunks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09290D-AB42-4484-8CD0-76E33EC3FC66}"/>
              </a:ext>
            </a:extLst>
          </p:cNvPr>
          <p:cNvSpPr>
            <a:spLocks noGrp="1"/>
          </p:cNvSpPr>
          <p:nvPr/>
        </p:nvSpPr>
        <p:spPr>
          <a:xfrm>
            <a:off x="3238500" y="32766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Sentence Transformers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0B1408-F267-4E36-88E0-2F70B6583C91}"/>
              </a:ext>
            </a:extLst>
          </p:cNvPr>
          <p:cNvSpPr>
            <a:spLocks noGrp="1"/>
          </p:cNvSpPr>
          <p:nvPr/>
        </p:nvSpPr>
        <p:spPr>
          <a:xfrm>
            <a:off x="4381500" y="3276600"/>
            <a:ext cx="14478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Enables semantic retrieval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57D72F-9C43-480F-97AC-92A407BB6257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1239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Vector Store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51ADD8-1C49-4754-8310-1093A4A2D30C}"/>
              </a:ext>
            </a:extLst>
          </p:cNvPr>
          <p:cNvSpPr>
            <a:spLocks noGrp="1"/>
          </p:cNvSpPr>
          <p:nvPr/>
        </p:nvSpPr>
        <p:spPr>
          <a:xfrm>
            <a:off x="1809750" y="3600450"/>
            <a:ext cx="14287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Store/search vectors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78F6B1-644E-4A31-A928-03E2A61078B1}"/>
              </a:ext>
            </a:extLst>
          </p:cNvPr>
          <p:cNvSpPr>
            <a:spLocks noGrp="1"/>
          </p:cNvSpPr>
          <p:nvPr/>
        </p:nvSpPr>
        <p:spPr>
          <a:xfrm>
            <a:off x="3238500" y="3600450"/>
            <a:ext cx="11430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FAISS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E77BAA-83B8-45F8-AD13-51BE88CC2C8A}"/>
              </a:ext>
            </a:extLst>
          </p:cNvPr>
          <p:cNvSpPr>
            <a:spLocks noGrp="1"/>
          </p:cNvSpPr>
          <p:nvPr/>
        </p:nvSpPr>
        <p:spPr>
          <a:xfrm>
            <a:off x="4381500" y="3600450"/>
            <a:ext cx="14478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Fast similarity search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782F3D-2E06-4AA1-9A82-C092F86F7DBE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RAG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9FD7FA-4519-4B05-89DE-078C33D6B243}"/>
              </a:ext>
            </a:extLst>
          </p:cNvPr>
          <p:cNvSpPr>
            <a:spLocks noGrp="1"/>
          </p:cNvSpPr>
          <p:nvPr/>
        </p:nvSpPr>
        <p:spPr>
          <a:xfrm>
            <a:off x="1809750" y="39243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Answer policy questions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CA9510-F7D5-4D1F-AF12-C1B981576863}"/>
              </a:ext>
            </a:extLst>
          </p:cNvPr>
          <p:cNvSpPr>
            <a:spLocks noGrp="1"/>
          </p:cNvSpPr>
          <p:nvPr/>
        </p:nvSpPr>
        <p:spPr>
          <a:xfrm>
            <a:off x="3238500" y="39243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Retriever + LLM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D0C847-4E67-4CB6-81DF-DD04B4F17614}"/>
              </a:ext>
            </a:extLst>
          </p:cNvPr>
          <p:cNvSpPr>
            <a:spLocks noGrp="1"/>
          </p:cNvSpPr>
          <p:nvPr/>
        </p:nvSpPr>
        <p:spPr>
          <a:xfrm>
            <a:off x="4381500" y="3924300"/>
            <a:ext cx="14478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Grounded policy Q&amp;A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58EF14-3310-4ADD-9E2F-70AD2DCAF38C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11239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Prompt Manager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49FA3F-7898-4F72-8AF3-C2349CF3474E}"/>
              </a:ext>
            </a:extLst>
          </p:cNvPr>
          <p:cNvSpPr>
            <a:spLocks noGrp="1"/>
          </p:cNvSpPr>
          <p:nvPr/>
        </p:nvSpPr>
        <p:spPr>
          <a:xfrm>
            <a:off x="1809750" y="4248150"/>
            <a:ext cx="14287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Centralize prompts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2BC07D-5A6D-44B2-BD8E-B78FA498215D}"/>
              </a:ext>
            </a:extLst>
          </p:cNvPr>
          <p:cNvSpPr>
            <a:spLocks noGrp="1"/>
          </p:cNvSpPr>
          <p:nvPr/>
        </p:nvSpPr>
        <p:spPr>
          <a:xfrm>
            <a:off x="3238500" y="4248150"/>
            <a:ext cx="11430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Template control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73130C-F6AA-434E-9105-5685BFB989B6}"/>
              </a:ext>
            </a:extLst>
          </p:cNvPr>
          <p:cNvSpPr>
            <a:spLocks noGrp="1"/>
          </p:cNvSpPr>
          <p:nvPr/>
        </p:nvSpPr>
        <p:spPr>
          <a:xfrm>
            <a:off x="4381500" y="4248150"/>
            <a:ext cx="14478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Consistent prompt quality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8F32B5-EFC8-440A-BCDF-7951EF976256}"/>
              </a:ext>
            </a:extLst>
          </p:cNvPr>
          <p:cNvSpPr>
            <a:spLocks noGrp="1"/>
          </p:cNvSpPr>
          <p:nvPr/>
        </p:nvSpPr>
        <p:spPr>
          <a:xfrm>
            <a:off x="6172200" y="1657350"/>
            <a:ext cx="1123950" cy="323850"/>
          </a:xfrm>
          <a:prstGeom prst="rect">
            <a:avLst/>
          </a:prstGeom>
          <a:solidFill>
            <a:srgbClr val="174EA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4651C1-3B04-4229-81D4-ECBA3D4FB60C}"/>
              </a:ext>
            </a:extLst>
          </p:cNvPr>
          <p:cNvSpPr>
            <a:spLocks noGrp="1"/>
          </p:cNvSpPr>
          <p:nvPr/>
        </p:nvSpPr>
        <p:spPr>
          <a:xfrm>
            <a:off x="7296150" y="1657350"/>
            <a:ext cx="1428750" cy="323850"/>
          </a:xfrm>
          <a:prstGeom prst="rect">
            <a:avLst/>
          </a:prstGeom>
          <a:solidFill>
            <a:srgbClr val="174EA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588872-61FC-4D91-B388-99B9A3FE15C0}"/>
              </a:ext>
            </a:extLst>
          </p:cNvPr>
          <p:cNvSpPr>
            <a:spLocks noGrp="1"/>
          </p:cNvSpPr>
          <p:nvPr/>
        </p:nvSpPr>
        <p:spPr>
          <a:xfrm>
            <a:off x="8724900" y="1657350"/>
            <a:ext cx="1143000" cy="323850"/>
          </a:xfrm>
          <a:prstGeom prst="rect">
            <a:avLst/>
          </a:prstGeom>
          <a:solidFill>
            <a:srgbClr val="174EA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347BB5-4845-49DF-B722-91EDFAFFDCF9}"/>
              </a:ext>
            </a:extLst>
          </p:cNvPr>
          <p:cNvSpPr>
            <a:spLocks noGrp="1"/>
          </p:cNvSpPr>
          <p:nvPr/>
        </p:nvSpPr>
        <p:spPr>
          <a:xfrm>
            <a:off x="9867900" y="1657350"/>
            <a:ext cx="1638300" cy="323850"/>
          </a:xfrm>
          <a:prstGeom prst="rect">
            <a:avLst/>
          </a:prstGeom>
          <a:solidFill>
            <a:srgbClr val="174EA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Business Benefit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E51A1D-BC93-4523-A92F-F9F914A772EE}"/>
              </a:ext>
            </a:extLst>
          </p:cNvPr>
          <p:cNvSpPr>
            <a:spLocks noGrp="1"/>
          </p:cNvSpPr>
          <p:nvPr/>
        </p:nvSpPr>
        <p:spPr>
          <a:xfrm>
            <a:off x="6172200" y="19812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 Extraction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9C1B36-0DB3-425C-A60E-0CD2C8C5DD8A}"/>
              </a:ext>
            </a:extLst>
          </p:cNvPr>
          <p:cNvSpPr>
            <a:spLocks noGrp="1"/>
          </p:cNvSpPr>
          <p:nvPr/>
        </p:nvSpPr>
        <p:spPr>
          <a:xfrm>
            <a:off x="7296150" y="19812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Convert policy to rules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013B33F-BD2B-4B85-A970-2EE06103BB16}"/>
              </a:ext>
            </a:extLst>
          </p:cNvPr>
          <p:cNvSpPr>
            <a:spLocks noGrp="1"/>
          </p:cNvSpPr>
          <p:nvPr/>
        </p:nvSpPr>
        <p:spPr>
          <a:xfrm>
            <a:off x="8724900" y="19812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LLM + schema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8BABED-D50D-4D73-A5A7-D1A1224DD179}"/>
              </a:ext>
            </a:extLst>
          </p:cNvPr>
          <p:cNvSpPr>
            <a:spLocks noGrp="1"/>
          </p:cNvSpPr>
          <p:nvPr/>
        </p:nvSpPr>
        <p:spPr>
          <a:xfrm>
            <a:off x="9867900" y="1981200"/>
            <a:ext cx="16383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Draft executable logic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40278FB-BE06-430D-AA6A-38E927084FF0}"/>
              </a:ext>
            </a:extLst>
          </p:cNvPr>
          <p:cNvSpPr>
            <a:spLocks noGrp="1"/>
          </p:cNvSpPr>
          <p:nvPr/>
        </p:nvSpPr>
        <p:spPr>
          <a:xfrm>
            <a:off x="6172200" y="2305050"/>
            <a:ext cx="11239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Feature Extraction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32C829A-8535-4FEF-985E-91B6EFEAB4AD}"/>
              </a:ext>
            </a:extLst>
          </p:cNvPr>
          <p:cNvSpPr>
            <a:spLocks noGrp="1"/>
          </p:cNvSpPr>
          <p:nvPr/>
        </p:nvSpPr>
        <p:spPr>
          <a:xfrm>
            <a:off x="7296150" y="2305050"/>
            <a:ext cx="14287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Create structured features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6D9B37-4A66-456E-8321-445BA3FFEEFC}"/>
              </a:ext>
            </a:extLst>
          </p:cNvPr>
          <p:cNvSpPr>
            <a:spLocks noGrp="1"/>
          </p:cNvSpPr>
          <p:nvPr/>
        </p:nvSpPr>
        <p:spPr>
          <a:xfrm>
            <a:off x="8724900" y="2305050"/>
            <a:ext cx="11430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LLM + regex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3B49B7-1334-4BE1-823E-6E0C90FB2AA7}"/>
              </a:ext>
            </a:extLst>
          </p:cNvPr>
          <p:cNvSpPr>
            <a:spLocks noGrp="1"/>
          </p:cNvSpPr>
          <p:nvPr/>
        </p:nvSpPr>
        <p:spPr>
          <a:xfrm>
            <a:off x="9867900" y="2305050"/>
            <a:ext cx="16383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Model-ready policy data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B83DA5A-4A4D-4352-B11F-140D5992B29C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 Engine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C69CC5-F1AF-4885-BB89-9FB43E9811E3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Evaluate rules on features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DEBCF4C-FC8C-47EC-A5BA-39EC4A020F99}"/>
              </a:ext>
            </a:extLst>
          </p:cNvPr>
          <p:cNvSpPr>
            <a:spLocks noGrp="1"/>
          </p:cNvSpPr>
          <p:nvPr/>
        </p:nvSpPr>
        <p:spPr>
          <a:xfrm>
            <a:off x="8724900" y="26289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Deterministic Python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923BC15-C70D-4482-8F1E-11464417F271}"/>
              </a:ext>
            </a:extLst>
          </p:cNvPr>
          <p:cNvSpPr>
            <a:spLocks noGrp="1"/>
          </p:cNvSpPr>
          <p:nvPr/>
        </p:nvSpPr>
        <p:spPr>
          <a:xfrm>
            <a:off x="9867900" y="2628900"/>
            <a:ext cx="16383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Transparent decision checks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D63E53E-1459-49B4-B0E5-AFD54397FC6C}"/>
              </a:ext>
            </a:extLst>
          </p:cNvPr>
          <p:cNvSpPr>
            <a:spLocks noGrp="1"/>
          </p:cNvSpPr>
          <p:nvPr/>
        </p:nvSpPr>
        <p:spPr>
          <a:xfrm>
            <a:off x="6172200" y="2952750"/>
            <a:ext cx="11239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ML Model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EE1413C-D89E-446E-AF51-6DF97D1E649E}"/>
              </a:ext>
            </a:extLst>
          </p:cNvPr>
          <p:cNvSpPr>
            <a:spLocks noGrp="1"/>
          </p:cNvSpPr>
          <p:nvPr/>
        </p:nvSpPr>
        <p:spPr>
          <a:xfrm>
            <a:off x="7296150" y="2952750"/>
            <a:ext cx="14287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Generate predictive signals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76FEEBF-B213-431B-9617-29FBEDC27C1F}"/>
              </a:ext>
            </a:extLst>
          </p:cNvPr>
          <p:cNvSpPr>
            <a:spLocks noGrp="1"/>
          </p:cNvSpPr>
          <p:nvPr/>
        </p:nvSpPr>
        <p:spPr>
          <a:xfrm>
            <a:off x="8724900" y="2952750"/>
            <a:ext cx="11430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Scikit-learn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A676DE-D641-4F6A-9ACC-702F9E616C9F}"/>
              </a:ext>
            </a:extLst>
          </p:cNvPr>
          <p:cNvSpPr>
            <a:spLocks noGrp="1"/>
          </p:cNvSpPr>
          <p:nvPr/>
        </p:nvSpPr>
        <p:spPr>
          <a:xfrm>
            <a:off x="9867900" y="2952750"/>
            <a:ext cx="16383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Adds probabilistic support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E574D06-585C-4274-A390-12E6F6574D31}"/>
              </a:ext>
            </a:extLst>
          </p:cNvPr>
          <p:cNvSpPr>
            <a:spLocks noGrp="1"/>
          </p:cNvSpPr>
          <p:nvPr/>
        </p:nvSpPr>
        <p:spPr>
          <a:xfrm>
            <a:off x="6172200" y="32766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Claim Decision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6466A5B-8D69-4E2F-892A-61198FABA578}"/>
              </a:ext>
            </a:extLst>
          </p:cNvPr>
          <p:cNvSpPr>
            <a:spLocks noGrp="1"/>
          </p:cNvSpPr>
          <p:nvPr/>
        </p:nvSpPr>
        <p:spPr>
          <a:xfrm>
            <a:off x="7296150" y="32766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Combine rule + ML signals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351202D-CB45-4F03-8FDD-E50C7FF0F4F0}"/>
              </a:ext>
            </a:extLst>
          </p:cNvPr>
          <p:cNvSpPr>
            <a:spLocks noGrp="1"/>
          </p:cNvSpPr>
          <p:nvPr/>
        </p:nvSpPr>
        <p:spPr>
          <a:xfrm>
            <a:off x="8724900" y="32766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Hybrid logic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906C117-9D21-457D-A570-BE64D189F565}"/>
              </a:ext>
            </a:extLst>
          </p:cNvPr>
          <p:cNvSpPr>
            <a:spLocks noGrp="1"/>
          </p:cNvSpPr>
          <p:nvPr/>
        </p:nvSpPr>
        <p:spPr>
          <a:xfrm>
            <a:off x="9867900" y="3276600"/>
            <a:ext cx="16383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Final recommendation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2F1A627-1CC9-4922-BD80-64B7BC306EA4}"/>
              </a:ext>
            </a:extLst>
          </p:cNvPr>
          <p:cNvSpPr>
            <a:spLocks noGrp="1"/>
          </p:cNvSpPr>
          <p:nvPr/>
        </p:nvSpPr>
        <p:spPr>
          <a:xfrm>
            <a:off x="6172200" y="3600450"/>
            <a:ext cx="11239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Explainability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6BDD449-96B8-4B16-B141-DE858BCA2C67}"/>
              </a:ext>
            </a:extLst>
          </p:cNvPr>
          <p:cNvSpPr>
            <a:spLocks noGrp="1"/>
          </p:cNvSpPr>
          <p:nvPr/>
        </p:nvSpPr>
        <p:spPr>
          <a:xfrm>
            <a:off x="7296150" y="3600450"/>
            <a:ext cx="142875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Explain why decision happened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4ED027C-5F45-4BBD-ADAB-438DC1F3CE25}"/>
              </a:ext>
            </a:extLst>
          </p:cNvPr>
          <p:cNvSpPr>
            <a:spLocks noGrp="1"/>
          </p:cNvSpPr>
          <p:nvPr/>
        </p:nvSpPr>
        <p:spPr>
          <a:xfrm>
            <a:off x="8724900" y="3600450"/>
            <a:ext cx="11430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Traceable reasoning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C5C0BD6-E691-49F5-A4B8-AE273765C14F}"/>
              </a:ext>
            </a:extLst>
          </p:cNvPr>
          <p:cNvSpPr>
            <a:spLocks noGrp="1"/>
          </p:cNvSpPr>
          <p:nvPr/>
        </p:nvSpPr>
        <p:spPr>
          <a:xfrm>
            <a:off x="9867900" y="3600450"/>
            <a:ext cx="1638300" cy="323850"/>
          </a:xfrm>
          <a:prstGeom prst="rect">
            <a:avLst/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Builds user trust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5E16935-8E9A-46C5-BD56-C7D788ABA9EA}"/>
              </a:ext>
            </a:extLst>
          </p:cNvPr>
          <p:cNvSpPr>
            <a:spLocks noGrp="1"/>
          </p:cNvSpPr>
          <p:nvPr/>
        </p:nvSpPr>
        <p:spPr>
          <a:xfrm>
            <a:off x="6172200" y="3924300"/>
            <a:ext cx="11239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Evaluation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8FD78F6-8C37-4B8E-83B2-37972D88A558}"/>
              </a:ext>
            </a:extLst>
          </p:cNvPr>
          <p:cNvSpPr>
            <a:spLocks noGrp="1"/>
          </p:cNvSpPr>
          <p:nvPr/>
        </p:nvSpPr>
        <p:spPr>
          <a:xfrm>
            <a:off x="7296150" y="3924300"/>
            <a:ext cx="14287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Score system quality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B99247C-E479-4399-9ACF-5B297616F83B}"/>
              </a:ext>
            </a:extLst>
          </p:cNvPr>
          <p:cNvSpPr>
            <a:spLocks noGrp="1"/>
          </p:cNvSpPr>
          <p:nvPr/>
        </p:nvSpPr>
        <p:spPr>
          <a:xfrm>
            <a:off x="8724900" y="3924300"/>
            <a:ext cx="1143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Rule-based QA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4E53CD-ADD9-48F6-8896-9246DCAE9FC7}"/>
              </a:ext>
            </a:extLst>
          </p:cNvPr>
          <p:cNvSpPr>
            <a:spLocks noGrp="1"/>
          </p:cNvSpPr>
          <p:nvPr/>
        </p:nvSpPr>
        <p:spPr>
          <a:xfrm>
            <a:off x="9867900" y="3924300"/>
            <a:ext cx="16383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pPr algn="l">
              <a:defRPr sz="863" b="0" i="0">
                <a:solidFill>
                  <a:srgbClr val="1F2937"/>
                </a:solidFill>
              </a:defRPr>
            </a:pPr>
            <a:r>
              <a:rPr sz="863" b="0" i="0">
                <a:solidFill>
                  <a:srgbClr val="1F2937"/>
                </a:solidFill>
              </a:rPr>
              <a:t>Monitors groundedness</a:t>
            </a:r>
          </a:p>
        </p:txBody>
      </p:sp>
    </p:spTree>
    <p:extLst>
      <p:ext uri="{BB962C8B-B14F-4D97-AF65-F5344CB8AC3E}">
        <p14:creationId xmlns:p14="http://schemas.microsoft.com/office/powerpoint/2010/main" val="60358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7F85D1A-30E6-4F00-ABD7-853D151D6B2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POC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2E925-C857-406B-9806-F097B401487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Suggested storyboard for the live demo and screenshot evidence.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87D024-F49E-4D89-A5BC-D6FCC85CBC0D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C0F354-4CFD-484D-83E0-04AD5CE6B6AE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6488E-1D5D-421B-B8E1-255438708AC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9CDF80-2E8B-4AFB-8190-73AF62F9723B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4288">
            <a:solidFill>
              <a:srgbClr val="174EA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B27EF-5532-4B8E-AB35-9F91A288B35D}"/>
              </a:ext>
            </a:extLst>
          </p:cNvPr>
          <p:cNvSpPr>
            <a:spLocks noGrp="1"/>
          </p:cNvSpPr>
          <p:nvPr/>
        </p:nvSpPr>
        <p:spPr>
          <a:xfrm>
            <a:off x="876300" y="160020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endParaRPr sz="1350" b="1" i="0" dirty="0">
              <a:solidFill>
                <a:srgbClr val="123B6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640284-0B36-48C3-A4A2-8E21563BF615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B6472"/>
                </a:solidFill>
              </a:defRPr>
            </a:pPr>
            <a:endParaRPr sz="1125" b="0" i="0" dirty="0">
              <a:solidFill>
                <a:srgbClr val="5B647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FFB060-E464-45E7-8FD9-D0CE177F4EC3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1">
                <a:solidFill>
                  <a:srgbClr val="174EA6"/>
                </a:solidFill>
              </a:defRPr>
            </a:pPr>
            <a:endParaRPr sz="900" b="0" i="1" dirty="0">
              <a:solidFill>
                <a:srgbClr val="174EA6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E54C05-F87E-4B31-A02A-10D6A9E1B229}"/>
              </a:ext>
            </a:extLst>
          </p:cNvPr>
          <p:cNvSpPr>
            <a:spLocks noGrp="1"/>
          </p:cNvSpPr>
          <p:nvPr/>
        </p:nvSpPr>
        <p:spPr>
          <a:xfrm>
            <a:off x="3448050" y="14668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4288">
            <a:solidFill>
              <a:srgbClr val="174EA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C036E4-8F70-4515-8BF1-BED4D9CDFFEA}"/>
              </a:ext>
            </a:extLst>
          </p:cNvPr>
          <p:cNvSpPr>
            <a:spLocks noGrp="1"/>
          </p:cNvSpPr>
          <p:nvPr/>
        </p:nvSpPr>
        <p:spPr>
          <a:xfrm>
            <a:off x="3619500" y="160020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endParaRPr sz="1350" b="1" i="0" dirty="0">
              <a:solidFill>
                <a:srgbClr val="123B6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0F225D-AE16-4E9A-874C-5B82BB00F4F9}"/>
              </a:ext>
            </a:extLst>
          </p:cNvPr>
          <p:cNvSpPr>
            <a:spLocks noGrp="1"/>
          </p:cNvSpPr>
          <p:nvPr/>
        </p:nvSpPr>
        <p:spPr>
          <a:xfrm>
            <a:off x="3619500" y="1905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B6472"/>
                </a:solidFill>
              </a:defRPr>
            </a:pPr>
            <a:endParaRPr sz="1125" b="0" i="0" dirty="0">
              <a:solidFill>
                <a:srgbClr val="5B647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3B95FC-2067-4360-9219-4EE895E574ED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1">
                <a:solidFill>
                  <a:srgbClr val="174EA6"/>
                </a:solidFill>
              </a:defRPr>
            </a:pPr>
            <a:endParaRPr sz="900" b="0" i="1" dirty="0">
              <a:solidFill>
                <a:srgbClr val="174EA6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CEB0E2-ECA6-4036-B5E8-7719AF56815B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4288">
            <a:solidFill>
              <a:srgbClr val="174EA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1C99C3-89E9-4C51-A514-B03D384B2324}"/>
              </a:ext>
            </a:extLst>
          </p:cNvPr>
          <p:cNvSpPr>
            <a:spLocks noGrp="1"/>
          </p:cNvSpPr>
          <p:nvPr/>
        </p:nvSpPr>
        <p:spPr>
          <a:xfrm>
            <a:off x="6362700" y="160020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endParaRPr sz="1350" b="1" i="0" dirty="0">
              <a:solidFill>
                <a:srgbClr val="123B66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CF38C6-929C-4342-9077-46B228329DE4}"/>
              </a:ext>
            </a:extLst>
          </p:cNvPr>
          <p:cNvSpPr>
            <a:spLocks noGrp="1"/>
          </p:cNvSpPr>
          <p:nvPr/>
        </p:nvSpPr>
        <p:spPr>
          <a:xfrm>
            <a:off x="6362700" y="1905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B6472"/>
                </a:solidFill>
              </a:defRPr>
            </a:pPr>
            <a:endParaRPr sz="1125" b="0" i="0" dirty="0">
              <a:solidFill>
                <a:srgbClr val="5B647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0955C0-DE26-481B-9492-BD5DE38EA106}"/>
              </a:ext>
            </a:extLst>
          </p:cNvPr>
          <p:cNvSpPr>
            <a:spLocks noGrp="1"/>
          </p:cNvSpPr>
          <p:nvPr/>
        </p:nvSpPr>
        <p:spPr>
          <a:xfrm>
            <a:off x="6362700" y="257175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1">
                <a:solidFill>
                  <a:srgbClr val="174EA6"/>
                </a:solidFill>
              </a:defRPr>
            </a:pPr>
            <a:endParaRPr sz="900" b="0" i="1" dirty="0">
              <a:solidFill>
                <a:srgbClr val="174EA6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6989FF-5DD9-4C73-AB97-42BAD83A763E}"/>
              </a:ext>
            </a:extLst>
          </p:cNvPr>
          <p:cNvSpPr>
            <a:spLocks noGrp="1"/>
          </p:cNvSpPr>
          <p:nvPr/>
        </p:nvSpPr>
        <p:spPr>
          <a:xfrm>
            <a:off x="8934450" y="14668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4288">
            <a:solidFill>
              <a:srgbClr val="174EA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2B60CB-9502-4648-88A8-A8C9619EFB24}"/>
              </a:ext>
            </a:extLst>
          </p:cNvPr>
          <p:cNvSpPr>
            <a:spLocks noGrp="1"/>
          </p:cNvSpPr>
          <p:nvPr/>
        </p:nvSpPr>
        <p:spPr>
          <a:xfrm>
            <a:off x="9105900" y="160020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endParaRPr sz="1350" b="1" i="0" dirty="0">
              <a:solidFill>
                <a:srgbClr val="123B66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3F9014-D4BB-419A-856B-8155BC23A1D1}"/>
              </a:ext>
            </a:extLst>
          </p:cNvPr>
          <p:cNvSpPr>
            <a:spLocks noGrp="1"/>
          </p:cNvSpPr>
          <p:nvPr/>
        </p:nvSpPr>
        <p:spPr>
          <a:xfrm>
            <a:off x="9105900" y="1905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B6472"/>
                </a:solidFill>
              </a:defRPr>
            </a:pPr>
            <a:endParaRPr sz="1125" b="0" i="0" dirty="0">
              <a:solidFill>
                <a:srgbClr val="5B647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A20FE1-8842-40BF-991B-7BC337BCE1F6}"/>
              </a:ext>
            </a:extLst>
          </p:cNvPr>
          <p:cNvSpPr>
            <a:spLocks noGrp="1"/>
          </p:cNvSpPr>
          <p:nvPr/>
        </p:nvSpPr>
        <p:spPr>
          <a:xfrm>
            <a:off x="9105900" y="257175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1">
                <a:solidFill>
                  <a:srgbClr val="174EA6"/>
                </a:solidFill>
              </a:defRPr>
            </a:pPr>
            <a:endParaRPr sz="900" b="0" i="1" dirty="0">
              <a:solidFill>
                <a:srgbClr val="174EA6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46C09E-1615-4811-82D0-B2066865D089}"/>
              </a:ext>
            </a:extLst>
          </p:cNvPr>
          <p:cNvSpPr>
            <a:spLocks noGrp="1"/>
          </p:cNvSpPr>
          <p:nvPr/>
        </p:nvSpPr>
        <p:spPr>
          <a:xfrm>
            <a:off x="1619250" y="33337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4288">
            <a:solidFill>
              <a:srgbClr val="174EA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D33B5B-BB2F-4E6F-B855-85EAFF1E63DC}"/>
              </a:ext>
            </a:extLst>
          </p:cNvPr>
          <p:cNvSpPr>
            <a:spLocks noGrp="1"/>
          </p:cNvSpPr>
          <p:nvPr/>
        </p:nvSpPr>
        <p:spPr>
          <a:xfrm>
            <a:off x="1790700" y="346710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endParaRPr sz="1350" b="1" i="0" dirty="0">
              <a:solidFill>
                <a:srgbClr val="123B66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B8BF95-5519-4696-860A-297E558D8D35}"/>
              </a:ext>
            </a:extLst>
          </p:cNvPr>
          <p:cNvSpPr>
            <a:spLocks noGrp="1"/>
          </p:cNvSpPr>
          <p:nvPr/>
        </p:nvSpPr>
        <p:spPr>
          <a:xfrm>
            <a:off x="1790700" y="37719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B6472"/>
                </a:solidFill>
              </a:defRPr>
            </a:pPr>
            <a:endParaRPr sz="1125" b="0" i="0" dirty="0">
              <a:solidFill>
                <a:srgbClr val="5B647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64CDFA-A053-4182-8460-A4F0BE37CCD6}"/>
              </a:ext>
            </a:extLst>
          </p:cNvPr>
          <p:cNvSpPr>
            <a:spLocks noGrp="1"/>
          </p:cNvSpPr>
          <p:nvPr/>
        </p:nvSpPr>
        <p:spPr>
          <a:xfrm>
            <a:off x="1790700" y="443865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1">
                <a:solidFill>
                  <a:srgbClr val="174EA6"/>
                </a:solidFill>
              </a:defRPr>
            </a:pPr>
            <a:endParaRPr sz="900" b="0" i="1" dirty="0">
              <a:solidFill>
                <a:srgbClr val="174EA6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5385553-A94F-4C9C-B990-BE35B022C7EB}"/>
              </a:ext>
            </a:extLst>
          </p:cNvPr>
          <p:cNvSpPr>
            <a:spLocks noGrp="1"/>
          </p:cNvSpPr>
          <p:nvPr/>
        </p:nvSpPr>
        <p:spPr>
          <a:xfrm>
            <a:off x="4857750" y="33337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4288">
            <a:solidFill>
              <a:srgbClr val="174EA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AE90C9-245C-48DE-AA8A-2906307A32BA}"/>
              </a:ext>
            </a:extLst>
          </p:cNvPr>
          <p:cNvSpPr>
            <a:spLocks noGrp="1"/>
          </p:cNvSpPr>
          <p:nvPr/>
        </p:nvSpPr>
        <p:spPr>
          <a:xfrm>
            <a:off x="5029200" y="346710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endParaRPr sz="1350" b="1" i="0" dirty="0">
              <a:solidFill>
                <a:srgbClr val="123B66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B4C83D-22D5-4B34-A1D9-DEF106CAD46A}"/>
              </a:ext>
            </a:extLst>
          </p:cNvPr>
          <p:cNvSpPr>
            <a:spLocks noGrp="1"/>
          </p:cNvSpPr>
          <p:nvPr/>
        </p:nvSpPr>
        <p:spPr>
          <a:xfrm>
            <a:off x="5029200" y="37719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B6472"/>
                </a:solidFill>
              </a:defRPr>
            </a:pPr>
            <a:endParaRPr sz="1125" b="0" i="0" dirty="0">
              <a:solidFill>
                <a:srgbClr val="5B647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E299BC-C6D0-46F0-B04E-9C8B01B39914}"/>
              </a:ext>
            </a:extLst>
          </p:cNvPr>
          <p:cNvSpPr>
            <a:spLocks noGrp="1"/>
          </p:cNvSpPr>
          <p:nvPr/>
        </p:nvSpPr>
        <p:spPr>
          <a:xfrm>
            <a:off x="5029200" y="443865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1">
                <a:solidFill>
                  <a:srgbClr val="174EA6"/>
                </a:solidFill>
              </a:defRPr>
            </a:pPr>
            <a:endParaRPr sz="900" b="0" i="1" dirty="0">
              <a:solidFill>
                <a:srgbClr val="174EA6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90C697A-EB10-4A11-8BBE-3D4ACF417BEB}"/>
              </a:ext>
            </a:extLst>
          </p:cNvPr>
          <p:cNvSpPr>
            <a:spLocks noGrp="1"/>
          </p:cNvSpPr>
          <p:nvPr/>
        </p:nvSpPr>
        <p:spPr>
          <a:xfrm>
            <a:off x="8096250" y="3333750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4288">
            <a:solidFill>
              <a:srgbClr val="174EA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2A37F7-3FBF-4F6C-B30F-0CBEC5B976BF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endParaRPr sz="1350" b="1" i="0" dirty="0">
              <a:solidFill>
                <a:srgbClr val="123B66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AACBD3-08C6-45B3-9530-33C2121AB7CE}"/>
              </a:ext>
            </a:extLst>
          </p:cNvPr>
          <p:cNvSpPr>
            <a:spLocks noGrp="1"/>
          </p:cNvSpPr>
          <p:nvPr/>
        </p:nvSpPr>
        <p:spPr>
          <a:xfrm>
            <a:off x="8267700" y="37719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B6472"/>
                </a:solidFill>
              </a:defRPr>
            </a:pPr>
            <a:endParaRPr sz="1125" b="0" i="0" dirty="0">
              <a:solidFill>
                <a:srgbClr val="5B6472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86A3C5-8B2C-4980-AB8F-7E526D4D4C6C}"/>
              </a:ext>
            </a:extLst>
          </p:cNvPr>
          <p:cNvSpPr>
            <a:spLocks noGrp="1"/>
          </p:cNvSpPr>
          <p:nvPr/>
        </p:nvSpPr>
        <p:spPr>
          <a:xfrm>
            <a:off x="8267700" y="4438650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1">
                <a:solidFill>
                  <a:srgbClr val="174EA6"/>
                </a:solidFill>
              </a:defRPr>
            </a:pPr>
            <a:endParaRPr sz="900" b="0" i="1" dirty="0">
              <a:solidFill>
                <a:srgbClr val="174EA6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DE1887E-49CB-8754-5A74-1681712E5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7" y="1433712"/>
            <a:ext cx="2555876" cy="153808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F27AB38-9B89-B06A-DC32-F496EB1B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126" y="1452033"/>
            <a:ext cx="2555875" cy="149436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70A7829-11A7-FE19-5055-75C777AAF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327" y="1435099"/>
            <a:ext cx="2590798" cy="151130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289435-EFB3-A0C6-8B1A-B892456A9F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575" y="1428750"/>
            <a:ext cx="2618848" cy="153808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9FE05BF-E41C-84B8-5651-17F8A37CC3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562" y="3300941"/>
            <a:ext cx="2555876" cy="149436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277C4AF-E1F6-CE04-9604-9D746D0388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650" y="3300941"/>
            <a:ext cx="2590797" cy="149436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93B2F1C-9F11-6916-A441-A85E8F61AB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659" y="3285066"/>
            <a:ext cx="2555876" cy="1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4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18F48E7-97FB-41E9-9A09-A297048F394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Business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CA34B3-B5D6-4D68-BA54-37DC93AE044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The proof of concept is designed to create operational leverage, not just technical novelty.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8164CC-63A0-4BA4-AE9B-9FBB09380652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E1ABC4-B71D-4B6F-BE52-15141EA4EC58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872E8D-E785-413C-A48A-449835EDBBE6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8ABD8-BEBD-421D-9F05-9A18DD46824E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23B66"/>
                </a:solidFill>
              </a:defRPr>
            </a:pPr>
            <a:r>
              <a:rPr sz="1500" b="1" i="0">
                <a:solidFill>
                  <a:srgbClr val="123B66"/>
                </a:solidFill>
              </a:rPr>
              <a:t>Value infographic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34A771-4DEE-431A-B1F6-B0E394FC486C}"/>
              </a:ext>
            </a:extLst>
          </p:cNvPr>
          <p:cNvSpPr>
            <a:spLocks noGrp="1"/>
          </p:cNvSpPr>
          <p:nvPr/>
        </p:nvSpPr>
        <p:spPr>
          <a:xfrm>
            <a:off x="1257300" y="2400300"/>
            <a:ext cx="2381250" cy="2381250"/>
          </a:xfrm>
          <a:prstGeom prst="ellipse">
            <a:avLst/>
          </a:prstGeom>
          <a:solidFill>
            <a:srgbClr val="123B66"/>
          </a:solidFill>
          <a:ln w="0">
            <a:solidFill>
              <a:srgbClr val="123B66"/>
            </a:solidFill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Payment</a:t>
            </a:r>
          </a:p>
          <a:p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7A9036-953D-4062-AC19-9CB6B68C3194}"/>
              </a:ext>
            </a:extLst>
          </p:cNvPr>
          <p:cNvSpPr>
            <a:spLocks noGrp="1"/>
          </p:cNvSpPr>
          <p:nvPr/>
        </p:nvSpPr>
        <p:spPr>
          <a:xfrm>
            <a:off x="4381500" y="16764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A3D635-BC5B-4953-9D9F-96FFF7EED610}"/>
              </a:ext>
            </a:extLst>
          </p:cNvPr>
          <p:cNvSpPr>
            <a:spLocks noGrp="1"/>
          </p:cNvSpPr>
          <p:nvPr/>
        </p:nvSpPr>
        <p:spPr>
          <a:xfrm>
            <a:off x="4552950" y="180975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Reduced manual review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DFB119-B6E8-4A4B-8D0B-BBC63F8BF6DA}"/>
              </a:ext>
            </a:extLst>
          </p:cNvPr>
          <p:cNvSpPr>
            <a:spLocks noGrp="1"/>
          </p:cNvSpPr>
          <p:nvPr/>
        </p:nvSpPr>
        <p:spPr>
          <a:xfrm>
            <a:off x="7810500" y="16764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EEF8F6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653FCC-77BA-4E73-9800-8ECB42227E17}"/>
              </a:ext>
            </a:extLst>
          </p:cNvPr>
          <p:cNvSpPr>
            <a:spLocks noGrp="1"/>
          </p:cNvSpPr>
          <p:nvPr/>
        </p:nvSpPr>
        <p:spPr>
          <a:xfrm>
            <a:off x="7981950" y="180975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Faster policy updates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B79B03-C07D-4EFF-869D-1F8AD9FE5735}"/>
              </a:ext>
            </a:extLst>
          </p:cNvPr>
          <p:cNvSpPr>
            <a:spLocks noGrp="1"/>
          </p:cNvSpPr>
          <p:nvPr/>
        </p:nvSpPr>
        <p:spPr>
          <a:xfrm>
            <a:off x="4381500" y="30480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FF5E8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FFD1-65B9-46FC-BE5C-C0BB96FBB427}"/>
              </a:ext>
            </a:extLst>
          </p:cNvPr>
          <p:cNvSpPr>
            <a:spLocks noGrp="1"/>
          </p:cNvSpPr>
          <p:nvPr/>
        </p:nvSpPr>
        <p:spPr>
          <a:xfrm>
            <a:off x="4552950" y="318135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97316"/>
                </a:solidFill>
              </a:defRPr>
            </a:pPr>
            <a:r>
              <a:rPr sz="1350" b="1" i="0">
                <a:solidFill>
                  <a:srgbClr val="F97316"/>
                </a:solidFill>
              </a:rPr>
              <a:t>Improved consistency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29B7D2-2A30-4FD7-AEBF-DB5083B1EB41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4F0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FA2588-2560-4BD2-9D2F-7D1F9C44E804}"/>
              </a:ext>
            </a:extLst>
          </p:cNvPr>
          <p:cNvSpPr>
            <a:spLocks noGrp="1"/>
          </p:cNvSpPr>
          <p:nvPr/>
        </p:nvSpPr>
        <p:spPr>
          <a:xfrm>
            <a:off x="7981950" y="318135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Higher payment integrity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46E7DB-52D1-49BA-A533-7FB4EAD2B802}"/>
              </a:ext>
            </a:extLst>
          </p:cNvPr>
          <p:cNvSpPr>
            <a:spLocks noGrp="1"/>
          </p:cNvSpPr>
          <p:nvPr/>
        </p:nvSpPr>
        <p:spPr>
          <a:xfrm>
            <a:off x="4381500" y="44196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9F3F1-7319-4931-93F5-E9EE85D312BD}"/>
              </a:ext>
            </a:extLst>
          </p:cNvPr>
          <p:cNvSpPr>
            <a:spLocks noGrp="1"/>
          </p:cNvSpPr>
          <p:nvPr/>
        </p:nvSpPr>
        <p:spPr>
          <a:xfrm>
            <a:off x="4552950" y="455295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Scalable AI platform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D63F4D-F344-4566-AB52-011ECC952D57}"/>
              </a:ext>
            </a:extLst>
          </p:cNvPr>
          <p:cNvSpPr>
            <a:spLocks noGrp="1"/>
          </p:cNvSpPr>
          <p:nvPr/>
        </p:nvSpPr>
        <p:spPr>
          <a:xfrm>
            <a:off x="7810500" y="4419600"/>
            <a:ext cx="2857500" cy="876300"/>
          </a:xfrm>
          <a:prstGeom prst="roundRect">
            <a:avLst>
              <a:gd name="adj" fmla="val 13043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086CEB-175A-435A-BD9F-E2069E97EAC7}"/>
              </a:ext>
            </a:extLst>
          </p:cNvPr>
          <p:cNvSpPr>
            <a:spLocks noGrp="1"/>
          </p:cNvSpPr>
          <p:nvPr/>
        </p:nvSpPr>
        <p:spPr>
          <a:xfrm>
            <a:off x="7981950" y="455295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2937"/>
                </a:solidFill>
              </a:defRPr>
            </a:pPr>
            <a:r>
              <a:rPr sz="1350" b="1" i="0">
                <a:solidFill>
                  <a:srgbClr val="1F2937"/>
                </a:solidFill>
              </a:rPr>
              <a:t>Human-in-the-loop validation</a:t>
            </a:r>
          </a:p>
        </p:txBody>
      </p:sp>
    </p:spTree>
    <p:extLst>
      <p:ext uri="{BB962C8B-B14F-4D97-AF65-F5344CB8AC3E}">
        <p14:creationId xmlns:p14="http://schemas.microsoft.com/office/powerpoint/2010/main" val="1033218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9B62A2E-0160-4C5E-8AE5-B64A08BE217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Responsible AI and Governance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94EC1-4342-4A5C-88D6-75A1601D7961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High-stakes healthcare workflows require grounded answers, transparent logic, and visible controls.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DF493-A569-4D4A-8734-A1F0AF972C8D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6D29E-D369-4E9F-9EEE-210FAC6DC070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92361C-37C6-44F9-BD5A-39D23480D230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0F5015-8FA5-4B4F-88E3-0D09E0192682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3810000" cy="628650"/>
          </a:xfrm>
          <a:prstGeom prst="roundRect">
            <a:avLst>
              <a:gd name="adj" fmla="val 18182"/>
            </a:avLst>
          </a:prstGeom>
          <a:solidFill>
            <a:srgbClr val="FFF6F5"/>
          </a:solidFill>
          <a:ln w="9525">
            <a:solidFill>
              <a:srgbClr val="F2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916F0-0C8D-4A8B-9264-FBEC65D109EA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Hallucination risk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575C5-94D8-4B5F-9854-45B2D8EB8F93}"/>
              </a:ext>
            </a:extLst>
          </p:cNvPr>
          <p:cNvSpPr>
            <a:spLocks noGrp="1"/>
          </p:cNvSpPr>
          <p:nvPr/>
        </p:nvSpPr>
        <p:spPr>
          <a:xfrm>
            <a:off x="4972050" y="18097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CC897B-B623-4BD4-8ECF-4FF9E951BD84}"/>
              </a:ext>
            </a:extLst>
          </p:cNvPr>
          <p:cNvSpPr>
            <a:spLocks noGrp="1"/>
          </p:cNvSpPr>
          <p:nvPr/>
        </p:nvSpPr>
        <p:spPr>
          <a:xfrm>
            <a:off x="5410200" y="16192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3FBF8"/>
          </a:solidFill>
          <a:ln w="9525">
            <a:solidFill>
              <a:srgbClr val="C7E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345966-D052-4EA0-AD96-BD8B8BF497DD}"/>
              </a:ext>
            </a:extLst>
          </p:cNvPr>
          <p:cNvSpPr>
            <a:spLocks noGrp="1"/>
          </p:cNvSpPr>
          <p:nvPr/>
        </p:nvSpPr>
        <p:spPr>
          <a:xfrm>
            <a:off x="5581650" y="1752600"/>
            <a:ext cx="556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RAG grounds answers in retrieved policy text and source citations.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884B06-52B1-4522-BB8A-5F00845A7900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3810000" cy="628650"/>
          </a:xfrm>
          <a:prstGeom prst="roundRect">
            <a:avLst>
              <a:gd name="adj" fmla="val 18182"/>
            </a:avLst>
          </a:prstGeom>
          <a:solidFill>
            <a:srgbClr val="FFF6F5"/>
          </a:solidFill>
          <a:ln w="9525">
            <a:solidFill>
              <a:srgbClr val="F2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9A45B-6B3A-48ED-A2C4-04E0913D9CBE}"/>
              </a:ext>
            </a:extLst>
          </p:cNvPr>
          <p:cNvSpPr>
            <a:spLocks noGrp="1"/>
          </p:cNvSpPr>
          <p:nvPr/>
        </p:nvSpPr>
        <p:spPr>
          <a:xfrm>
            <a:off x="1028700" y="25908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Policy ambiguity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32DDAF-B766-4460-A425-DF778C6D76B9}"/>
              </a:ext>
            </a:extLst>
          </p:cNvPr>
          <p:cNvSpPr>
            <a:spLocks noGrp="1"/>
          </p:cNvSpPr>
          <p:nvPr/>
        </p:nvSpPr>
        <p:spPr>
          <a:xfrm>
            <a:off x="4972050" y="26479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E67E84-7E5F-4E2C-8877-5F8875C49A79}"/>
              </a:ext>
            </a:extLst>
          </p:cNvPr>
          <p:cNvSpPr>
            <a:spLocks noGrp="1"/>
          </p:cNvSpPr>
          <p:nvPr/>
        </p:nvSpPr>
        <p:spPr>
          <a:xfrm>
            <a:off x="5410200" y="24574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3FBF8"/>
          </a:solidFill>
          <a:ln w="9525">
            <a:solidFill>
              <a:srgbClr val="C7E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4ED95-305B-45E2-BDF9-565B6C4C0A6B}"/>
              </a:ext>
            </a:extLst>
          </p:cNvPr>
          <p:cNvSpPr>
            <a:spLocks noGrp="1"/>
          </p:cNvSpPr>
          <p:nvPr/>
        </p:nvSpPr>
        <p:spPr>
          <a:xfrm>
            <a:off x="5581650" y="2590800"/>
            <a:ext cx="556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Human reviewers validate summaries, rules, and decision recommendations.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D56102-BA1E-4CCB-9A68-3AA30448DA57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3810000" cy="628650"/>
          </a:xfrm>
          <a:prstGeom prst="roundRect">
            <a:avLst>
              <a:gd name="adj" fmla="val 18182"/>
            </a:avLst>
          </a:prstGeom>
          <a:solidFill>
            <a:srgbClr val="FFF6F5"/>
          </a:solidFill>
          <a:ln w="9525">
            <a:solidFill>
              <a:srgbClr val="F2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9F2841-4342-4C2C-819C-ABFCC0731BFE}"/>
              </a:ext>
            </a:extLst>
          </p:cNvPr>
          <p:cNvSpPr>
            <a:spLocks noGrp="1"/>
          </p:cNvSpPr>
          <p:nvPr/>
        </p:nvSpPr>
        <p:spPr>
          <a:xfrm>
            <a:off x="1028700" y="34290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Low-confidence outputs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63E2B6-3B04-4E5A-8B24-37FAAED3D669}"/>
              </a:ext>
            </a:extLst>
          </p:cNvPr>
          <p:cNvSpPr>
            <a:spLocks noGrp="1"/>
          </p:cNvSpPr>
          <p:nvPr/>
        </p:nvSpPr>
        <p:spPr>
          <a:xfrm>
            <a:off x="4972050" y="34861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383AC7-F58C-491E-95E0-3B61B0AC5E9F}"/>
              </a:ext>
            </a:extLst>
          </p:cNvPr>
          <p:cNvSpPr>
            <a:spLocks noGrp="1"/>
          </p:cNvSpPr>
          <p:nvPr/>
        </p:nvSpPr>
        <p:spPr>
          <a:xfrm>
            <a:off x="5410200" y="32956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3FBF8"/>
          </a:solidFill>
          <a:ln w="9525">
            <a:solidFill>
              <a:srgbClr val="C7E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359DF5-BF19-4378-801F-86BD4E000848}"/>
              </a:ext>
            </a:extLst>
          </p:cNvPr>
          <p:cNvSpPr>
            <a:spLocks noGrp="1"/>
          </p:cNvSpPr>
          <p:nvPr/>
        </p:nvSpPr>
        <p:spPr>
          <a:xfrm>
            <a:off x="5581650" y="3429000"/>
            <a:ext cx="556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Confidence scoring and evaluation signals surface uncertainty.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982B41-4CD5-4551-B36B-7487A398E1BF}"/>
              </a:ext>
            </a:extLst>
          </p:cNvPr>
          <p:cNvSpPr>
            <a:spLocks noGrp="1"/>
          </p:cNvSpPr>
          <p:nvPr/>
        </p:nvSpPr>
        <p:spPr>
          <a:xfrm>
            <a:off x="857250" y="4133850"/>
            <a:ext cx="3810000" cy="628650"/>
          </a:xfrm>
          <a:prstGeom prst="roundRect">
            <a:avLst>
              <a:gd name="adj" fmla="val 18182"/>
            </a:avLst>
          </a:prstGeom>
          <a:solidFill>
            <a:srgbClr val="FFF6F5"/>
          </a:solidFill>
          <a:ln w="9525">
            <a:solidFill>
              <a:srgbClr val="F2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DFD7F3-A087-4B60-AB7F-C828120F6F25}"/>
              </a:ext>
            </a:extLst>
          </p:cNvPr>
          <p:cNvSpPr>
            <a:spLocks noGrp="1"/>
          </p:cNvSpPr>
          <p:nvPr/>
        </p:nvSpPr>
        <p:spPr>
          <a:xfrm>
            <a:off x="1028700" y="42672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Opaque recommendations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B093F5-FA6A-44B8-845F-771E2D44BD20}"/>
              </a:ext>
            </a:extLst>
          </p:cNvPr>
          <p:cNvSpPr>
            <a:spLocks noGrp="1"/>
          </p:cNvSpPr>
          <p:nvPr/>
        </p:nvSpPr>
        <p:spPr>
          <a:xfrm>
            <a:off x="4972050" y="43243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5F4D13-E893-485D-BF98-D734480D10FB}"/>
              </a:ext>
            </a:extLst>
          </p:cNvPr>
          <p:cNvSpPr>
            <a:spLocks noGrp="1"/>
          </p:cNvSpPr>
          <p:nvPr/>
        </p:nvSpPr>
        <p:spPr>
          <a:xfrm>
            <a:off x="5410200" y="41338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3FBF8"/>
          </a:solidFill>
          <a:ln w="9525">
            <a:solidFill>
              <a:srgbClr val="C7E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A92CF1-8788-431F-BD4A-62AB6807A071}"/>
              </a:ext>
            </a:extLst>
          </p:cNvPr>
          <p:cNvSpPr>
            <a:spLocks noGrp="1"/>
          </p:cNvSpPr>
          <p:nvPr/>
        </p:nvSpPr>
        <p:spPr>
          <a:xfrm>
            <a:off x="5581650" y="4267200"/>
            <a:ext cx="556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Explainability module shows reasons, evidence, and next actions.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75885BA-7D12-4E42-8031-3D41F2984F41}"/>
              </a:ext>
            </a:extLst>
          </p:cNvPr>
          <p:cNvSpPr>
            <a:spLocks noGrp="1"/>
          </p:cNvSpPr>
          <p:nvPr/>
        </p:nvSpPr>
        <p:spPr>
          <a:xfrm>
            <a:off x="857250" y="4972050"/>
            <a:ext cx="3810000" cy="628650"/>
          </a:xfrm>
          <a:prstGeom prst="roundRect">
            <a:avLst>
              <a:gd name="adj" fmla="val 18182"/>
            </a:avLst>
          </a:prstGeom>
          <a:solidFill>
            <a:srgbClr val="FFF6F5"/>
          </a:solidFill>
          <a:ln w="9525">
            <a:solidFill>
              <a:srgbClr val="F2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CB71A7-488B-4C7D-A5D2-03CB7338A3F4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D92D20"/>
                </a:solidFill>
              </a:defRPr>
            </a:pPr>
            <a:r>
              <a:rPr sz="1350" b="1" i="0">
                <a:solidFill>
                  <a:srgbClr val="D92D20"/>
                </a:solidFill>
              </a:rPr>
              <a:t>Compliance exposure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4607EC-9E1B-4BD1-8CAA-0ACE471FF9AF}"/>
              </a:ext>
            </a:extLst>
          </p:cNvPr>
          <p:cNvSpPr>
            <a:spLocks noGrp="1"/>
          </p:cNvSpPr>
          <p:nvPr/>
        </p:nvSpPr>
        <p:spPr>
          <a:xfrm>
            <a:off x="4972050" y="51625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5A35AA-E304-4551-84A8-7714BCCA97D0}"/>
              </a:ext>
            </a:extLst>
          </p:cNvPr>
          <p:cNvSpPr>
            <a:spLocks noGrp="1"/>
          </p:cNvSpPr>
          <p:nvPr/>
        </p:nvSpPr>
        <p:spPr>
          <a:xfrm>
            <a:off x="5410200" y="49720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3FBF8"/>
          </a:solidFill>
          <a:ln w="9525">
            <a:solidFill>
              <a:srgbClr val="C7E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1A9FD6-5D35-4D67-B5C3-1088AC7617E1}"/>
              </a:ext>
            </a:extLst>
          </p:cNvPr>
          <p:cNvSpPr>
            <a:spLocks noGrp="1"/>
          </p:cNvSpPr>
          <p:nvPr/>
        </p:nvSpPr>
        <p:spPr>
          <a:xfrm>
            <a:off x="5581650" y="5105400"/>
            <a:ext cx="556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Audit trails, structured outputs, and HIPAA-aware handling support review.</a:t>
            </a:r>
          </a:p>
        </p:txBody>
      </p:sp>
    </p:spTree>
    <p:extLst>
      <p:ext uri="{BB962C8B-B14F-4D97-AF65-F5344CB8AC3E}">
        <p14:creationId xmlns:p14="http://schemas.microsoft.com/office/powerpoint/2010/main" val="117291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8CA1867-A24B-498D-B2D5-BC721E91124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Future Enhancements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DBF47-ADBE-4049-B1C4-FB4392E9D06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A phased roadmap keeps the strategy practical while expanding the intelligence layer over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D45CBB-F905-4284-A822-626F0060392E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7D3B8D-9A01-43B3-996B-5D7FAB8AC15D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75AF31-8106-45A5-A03D-F57F11E0B6B8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950FDB-FA34-46B0-995C-ACD87E44091A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2895600" cy="2381250"/>
          </a:xfrm>
          <a:prstGeom prst="roundRect">
            <a:avLst>
              <a:gd name="adj" fmla="val 4800"/>
            </a:avLst>
          </a:prstGeom>
          <a:solidFill>
            <a:srgbClr val="EAF2FD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0C5A3A-85C6-47DC-9EBE-67FF1A263E11}"/>
              </a:ext>
            </a:extLst>
          </p:cNvPr>
          <p:cNvSpPr>
            <a:spLocks noGrp="1"/>
          </p:cNvSpPr>
          <p:nvPr/>
        </p:nvSpPr>
        <p:spPr>
          <a:xfrm>
            <a:off x="1143000" y="2152650"/>
            <a:ext cx="255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4EA6"/>
                </a:solidFill>
              </a:defRPr>
            </a:pPr>
            <a:r>
              <a:rPr sz="1350" b="1" i="0">
                <a:solidFill>
                  <a:srgbClr val="174EA6"/>
                </a:solidFill>
              </a:rPr>
              <a:t>Now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B92F2B-1CB6-43B8-95F3-FFB52C62E42C}"/>
              </a:ext>
            </a:extLst>
          </p:cNvPr>
          <p:cNvSpPr>
            <a:spLocks noGrp="1"/>
          </p:cNvSpPr>
          <p:nvPr/>
        </p:nvSpPr>
        <p:spPr>
          <a:xfrm>
            <a:off x="1143000" y="2457450"/>
            <a:ext cx="25527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Imaging policy rollout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Prior authorization workflows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Human-reviewed rule authoring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192355-AE46-427C-980B-CA9F4CA771D9}"/>
              </a:ext>
            </a:extLst>
          </p:cNvPr>
          <p:cNvSpPr>
            <a:spLocks noGrp="1"/>
          </p:cNvSpPr>
          <p:nvPr/>
        </p:nvSpPr>
        <p:spPr>
          <a:xfrm>
            <a:off x="3981450" y="3048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B9DA3B-6AB2-483F-B071-9AD13D6BEDE3}"/>
              </a:ext>
            </a:extLst>
          </p:cNvPr>
          <p:cNvSpPr>
            <a:spLocks noGrp="1"/>
          </p:cNvSpPr>
          <p:nvPr/>
        </p:nvSpPr>
        <p:spPr>
          <a:xfrm>
            <a:off x="4476750" y="2019300"/>
            <a:ext cx="2895600" cy="2381250"/>
          </a:xfrm>
          <a:prstGeom prst="roundRect">
            <a:avLst>
              <a:gd name="adj" fmla="val 4800"/>
            </a:avLst>
          </a:prstGeom>
          <a:solidFill>
            <a:srgbClr val="EEF8F6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E58A72-D39B-4995-AE94-0F1A42817A85}"/>
              </a:ext>
            </a:extLst>
          </p:cNvPr>
          <p:cNvSpPr>
            <a:spLocks noGrp="1"/>
          </p:cNvSpPr>
          <p:nvPr/>
        </p:nvSpPr>
        <p:spPr>
          <a:xfrm>
            <a:off x="4648200" y="2152650"/>
            <a:ext cx="255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F9D74"/>
                </a:solidFill>
              </a:defRPr>
            </a:pPr>
            <a:r>
              <a:rPr sz="1350" b="1" i="0">
                <a:solidFill>
                  <a:srgbClr val="1F9D74"/>
                </a:solidFill>
              </a:rPr>
              <a:t>Next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8D7A8-FF1D-44F3-BE6E-7BA2214FEB79}"/>
              </a:ext>
            </a:extLst>
          </p:cNvPr>
          <p:cNvSpPr>
            <a:spLocks noGrp="1"/>
          </p:cNvSpPr>
          <p:nvPr/>
        </p:nvSpPr>
        <p:spPr>
          <a:xfrm>
            <a:off x="4648200" y="2457450"/>
            <a:ext cx="25527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FHIR integration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Knowledge graph layer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Cloud-hosted collaboration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9157BC-5071-4A2F-A67F-88EAD061965A}"/>
              </a:ext>
            </a:extLst>
          </p:cNvPr>
          <p:cNvSpPr>
            <a:spLocks noGrp="1"/>
          </p:cNvSpPr>
          <p:nvPr/>
        </p:nvSpPr>
        <p:spPr>
          <a:xfrm>
            <a:off x="7486650" y="30480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E6FD8"/>
                </a:solidFill>
              </a:defRPr>
            </a:pPr>
            <a:r>
              <a:rPr sz="195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EA8911-C5A4-4C2A-B615-3393BAA479FA}"/>
              </a:ext>
            </a:extLst>
          </p:cNvPr>
          <p:cNvSpPr>
            <a:spLocks noGrp="1"/>
          </p:cNvSpPr>
          <p:nvPr/>
        </p:nvSpPr>
        <p:spPr>
          <a:xfrm>
            <a:off x="7981950" y="2019300"/>
            <a:ext cx="2895600" cy="2381250"/>
          </a:xfrm>
          <a:prstGeom prst="roundRect">
            <a:avLst>
              <a:gd name="adj" fmla="val 4800"/>
            </a:avLst>
          </a:prstGeom>
          <a:solidFill>
            <a:srgbClr val="F4F0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C0706A-51EC-4404-9229-B615971BAEE1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255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Later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2228A-33D7-4D8D-B737-35A3A833D4FB}"/>
              </a:ext>
            </a:extLst>
          </p:cNvPr>
          <p:cNvSpPr>
            <a:spLocks noGrp="1"/>
          </p:cNvSpPr>
          <p:nvPr/>
        </p:nvSpPr>
        <p:spPr>
          <a:xfrm>
            <a:off x="8153400" y="2457450"/>
            <a:ext cx="25527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Graph RAG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Multi-agent orchestration</a:t>
            </a:r>
          </a:p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• Real-time monitoring and feedback learning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5CCB4E-87CD-478E-A5EC-9175C97F01D5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9906000" cy="85725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D5F861-2D7B-485C-A003-D75EF7419FE1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956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Strategic posture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677117-35B0-4B98-B086-B7FA044D23B4}"/>
              </a:ext>
            </a:extLst>
          </p:cNvPr>
          <p:cNvSpPr>
            <a:spLocks noGrp="1"/>
          </p:cNvSpPr>
          <p:nvPr/>
        </p:nvSpPr>
        <p:spPr>
          <a:xfrm>
            <a:off x="1143000" y="5257800"/>
            <a:ext cx="956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Start with a narrow, high-value analyst copilot and expand only after the trust, retrieval quality, and rule-feature alignment are strong.</a:t>
            </a:r>
          </a:p>
        </p:txBody>
      </p:sp>
    </p:spTree>
    <p:extLst>
      <p:ext uri="{BB962C8B-B14F-4D97-AF65-F5344CB8AC3E}">
        <p14:creationId xmlns:p14="http://schemas.microsoft.com/office/powerpoint/2010/main" val="1038656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A6CB606-E0F6-4476-AB97-83B944ED642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23B66"/>
                </a:solidFill>
              </a:defRPr>
            </a:pPr>
            <a:r>
              <a:rPr sz="2700" b="1" i="0">
                <a:solidFill>
                  <a:srgbClr val="123B66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44DEA9-E72E-4E37-97DC-236FC384538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The project demonstrates a practical path from policy documents to explainable decision support.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CECE5-8029-4408-8594-E07428C84FF4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11163300" cy="19050"/>
          </a:xfrm>
          <a:prstGeom prst="rect">
            <a:avLst/>
          </a:prstGeom>
          <a:solidFill>
            <a:srgbClr val="D8E0EA"/>
          </a:solidFill>
          <a:ln w="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4D56B-A054-4387-B93F-E932F03F9DC2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Cotiviti Hackathon Assessment | AI-Powered Healthcare Content Intelligence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C7E48-C670-4480-867F-5B764DBE9A2A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13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53A3CF-78C9-4E6E-BF88-36FA4D66B41C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994A8-D5AB-471B-89EA-21C3DE945130}"/>
              </a:ext>
            </a:extLst>
          </p:cNvPr>
          <p:cNvSpPr>
            <a:spLocks noGrp="1"/>
          </p:cNvSpPr>
          <p:nvPr/>
        </p:nvSpPr>
        <p:spPr>
          <a:xfrm>
            <a:off x="952500" y="175260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501DDA-EE35-46AB-9107-D865B83CA796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Healthcare policy review is complex, slow, and difficult to operationalize consistently.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0BE2EB-BFDD-4000-9C25-3F8FAA3C2E8C}"/>
              </a:ext>
            </a:extLst>
          </p:cNvPr>
          <p:cNvSpPr>
            <a:spLocks noGrp="1"/>
          </p:cNvSpPr>
          <p:nvPr/>
        </p:nvSpPr>
        <p:spPr>
          <a:xfrm>
            <a:off x="6115050" y="1619250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A5908C-856F-498B-AC02-E8AE5A4D1945}"/>
              </a:ext>
            </a:extLst>
          </p:cNvPr>
          <p:cNvSpPr>
            <a:spLocks noGrp="1"/>
          </p:cNvSpPr>
          <p:nvPr/>
        </p:nvSpPr>
        <p:spPr>
          <a:xfrm>
            <a:off x="6286500" y="175260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83CDE5-C2BD-49BF-9E78-DECE26B8C5DD}"/>
              </a:ext>
            </a:extLst>
          </p:cNvPr>
          <p:cNvSpPr>
            <a:spLocks noGrp="1"/>
          </p:cNvSpPr>
          <p:nvPr/>
        </p:nvSpPr>
        <p:spPr>
          <a:xfrm>
            <a:off x="6286500" y="2057400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A modular AI platform converts documents into grounded summaries, answers, rules, features, and recommendations.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97F988-D184-4823-95C3-24473B9F091C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D6B4FE-8DF3-4C28-8DCC-EF10BD02457E}"/>
              </a:ext>
            </a:extLst>
          </p:cNvPr>
          <p:cNvSpPr>
            <a:spLocks noGrp="1"/>
          </p:cNvSpPr>
          <p:nvPr/>
        </p:nvSpPr>
        <p:spPr>
          <a:xfrm>
            <a:off x="952500" y="337185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POC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63D00E-D788-4534-BA33-2D302FB1AD1B}"/>
              </a:ext>
            </a:extLst>
          </p:cNvPr>
          <p:cNvSpPr>
            <a:spLocks noGrp="1"/>
          </p:cNvSpPr>
          <p:nvPr/>
        </p:nvSpPr>
        <p:spPr>
          <a:xfrm>
            <a:off x="952500" y="3676650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The working Streamlit demonstrator shows the full end-to-end flow across multiple AI modules.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7036B7-13EE-4EDA-A807-60C341C9C230}"/>
              </a:ext>
            </a:extLst>
          </p:cNvPr>
          <p:cNvSpPr>
            <a:spLocks noGrp="1"/>
          </p:cNvSpPr>
          <p:nvPr/>
        </p:nvSpPr>
        <p:spPr>
          <a:xfrm>
            <a:off x="6115050" y="3238500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088C65-C89E-49DA-A46C-80F8C1AEADA1}"/>
              </a:ext>
            </a:extLst>
          </p:cNvPr>
          <p:cNvSpPr>
            <a:spLocks noGrp="1"/>
          </p:cNvSpPr>
          <p:nvPr/>
        </p:nvSpPr>
        <p:spPr>
          <a:xfrm>
            <a:off x="6286500" y="337185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23B66"/>
                </a:solidFill>
              </a:defRPr>
            </a:pPr>
            <a:r>
              <a:rPr sz="1350" b="1" i="0">
                <a:solidFill>
                  <a:srgbClr val="123B66"/>
                </a:solidFill>
              </a:rPr>
              <a:t>Strategic value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D9B93A-665D-4E89-BB5B-591A2BEDD294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4610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F2937"/>
                </a:solidFill>
              </a:defRPr>
            </a:pPr>
            <a:r>
              <a:rPr sz="1350" b="0" i="0">
                <a:solidFill>
                  <a:srgbClr val="1F2937"/>
                </a:solidFill>
              </a:rPr>
              <a:t>Cotiviti can explore this as a human-in-the-loop capability aligned with payment integrity workflows.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F82BF9-27CE-4983-AAE3-21051A73313F}"/>
              </a:ext>
            </a:extLst>
          </p:cNvPr>
          <p:cNvSpPr>
            <a:spLocks noGrp="1"/>
          </p:cNvSpPr>
          <p:nvPr/>
        </p:nvSpPr>
        <p:spPr>
          <a:xfrm>
            <a:off x="1143000" y="5295900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74EA6"/>
                </a:solidFill>
              </a:defRPr>
            </a:pPr>
            <a:r>
              <a:rPr sz="2250" b="1" i="0">
                <a:solidFill>
                  <a:srgbClr val="174EA6"/>
                </a:solidFill>
              </a:rPr>
              <a:t>AI + Human Expertise = Better Healthcare Payment Integrity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BF9DC7-13E6-4A84-B7EC-DE5FCFA02A87}"/>
              </a:ext>
            </a:extLst>
          </p:cNvPr>
          <p:cNvSpPr>
            <a:spLocks noGrp="1"/>
          </p:cNvSpPr>
          <p:nvPr/>
        </p:nvSpPr>
        <p:spPr>
          <a:xfrm>
            <a:off x="2095500" y="5810250"/>
            <a:ext cx="800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5B6472"/>
                </a:solidFill>
              </a:defRPr>
            </a:pPr>
            <a:r>
              <a:rPr sz="1050" b="0" i="0">
                <a:solidFill>
                  <a:srgbClr val="5B6472"/>
                </a:solidFill>
              </a:rPr>
              <a:t>Detailed references are provided in the written report bibliography.</a:t>
            </a:r>
          </a:p>
        </p:txBody>
      </p:sp>
    </p:spTree>
    <p:extLst>
      <p:ext uri="{BB962C8B-B14F-4D97-AF65-F5344CB8AC3E}">
        <p14:creationId xmlns:p14="http://schemas.microsoft.com/office/powerpoint/2010/main" val="1754251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2360</Words>
  <Application>Microsoft Office PowerPoint</Application>
  <DocSecurity>0</DocSecurity>
  <PresentationFormat>Widescreen</PresentationFormat>
  <Paragraphs>373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Nihil Rengasamy</cp:lastModifiedBy>
  <cp:revision>2</cp:revision>
  <dcterms:created xsi:type="dcterms:W3CDTF">2026-07-01T01:02:01Z</dcterms:created>
  <dcterms:modified xsi:type="dcterms:W3CDTF">2026-07-01T05:01:58Z</dcterms:modified>
</cp:coreProperties>
</file>